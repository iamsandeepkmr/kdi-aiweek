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609600" y="1309687"/>
            <a:ext cx="7924800" cy="1354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400"/>
              </a:lnSpc>
              <a:defRPr b="1" sz="4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The Generative AI Landscape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2608739" y="2833688"/>
            <a:ext cx="3926520" cy="665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Evolution, Models &amp; Market Dynamics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3319550" y="3633787"/>
            <a:ext cx="2504900" cy="3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Agentic AI for Developers • Feb 6-7,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What Is Generative AI?</a:t>
            </a:r>
          </a:p>
        </p:txBody>
      </p:sp>
      <p:sp>
        <p:nvSpPr>
          <p:cNvPr id="25" name="Text 1"/>
          <p:cNvSpPr txBox="1"/>
          <p:nvPr/>
        </p:nvSpPr>
        <p:spPr>
          <a:xfrm>
            <a:off x="914400" y="1249679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Definition:</a:t>
            </a:r>
            <a:r>
              <a:rPr b="0">
                <a:solidFill>
                  <a:srgbClr val="CBD5E1"/>
                </a:solidFill>
              </a:rPr>
              <a:t> AI systems trained to generate new content from learned patterns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Capabilities:</a:t>
            </a:r>
            <a:r>
              <a:rPr b="0">
                <a:solidFill>
                  <a:srgbClr val="CBD5E1"/>
                </a:solidFill>
              </a:rPr>
              <a:t> Text, images, code, audio, video, structured data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Training:</a:t>
            </a:r>
            <a:r>
              <a:rPr b="0">
                <a:solidFill>
                  <a:srgbClr val="CBD5E1"/>
                </a:solidFill>
              </a:rPr>
              <a:t> Learns from massive datasets using transformer architectures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Output:</a:t>
            </a:r>
            <a:r>
              <a:rPr b="0">
                <a:solidFill>
                  <a:srgbClr val="CBD5E1"/>
                </a:solidFill>
              </a:rPr>
              <a:t> Human-like, contextually relevant, probabilistic completions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609600" y="1249680"/>
            <a:ext cx="7924800" cy="94869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8" name="Text 1"/>
          <p:cNvSpPr/>
          <p:nvPr/>
        </p:nvSpPr>
        <p:spPr>
          <a:xfrm>
            <a:off x="609600" y="2198370"/>
            <a:ext cx="7924800" cy="94869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9" name="Text 2"/>
          <p:cNvSpPr txBox="1"/>
          <p:nvPr/>
        </p:nvSpPr>
        <p:spPr>
          <a:xfrm>
            <a:off x="609600" y="609599"/>
            <a:ext cx="8083296" cy="397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Evolution: ML → Deep Learning</a:t>
            </a:r>
          </a:p>
        </p:txBody>
      </p:sp>
      <p:sp>
        <p:nvSpPr>
          <p:cNvPr id="30" name="Text 3"/>
          <p:cNvSpPr txBox="1"/>
          <p:nvPr/>
        </p:nvSpPr>
        <p:spPr>
          <a:xfrm>
            <a:off x="838199" y="1478280"/>
            <a:ext cx="7616954" cy="261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Traditional ML (1990s-2010s)</a:t>
            </a:r>
          </a:p>
        </p:txBody>
      </p:sp>
      <p:sp>
        <p:nvSpPr>
          <p:cNvPr id="31" name="Text 4"/>
          <p:cNvSpPr txBox="1"/>
          <p:nvPr/>
        </p:nvSpPr>
        <p:spPr>
          <a:xfrm>
            <a:off x="838199" y="1752599"/>
            <a:ext cx="7616954" cy="202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Spam filters, decision trees, SVM. Pattern matching on structured data.</a:t>
            </a:r>
          </a:p>
        </p:txBody>
      </p:sp>
      <p:sp>
        <p:nvSpPr>
          <p:cNvPr id="32" name="Text 5"/>
          <p:cNvSpPr txBox="1"/>
          <p:nvPr/>
        </p:nvSpPr>
        <p:spPr>
          <a:xfrm>
            <a:off x="838199" y="2426970"/>
            <a:ext cx="7616954" cy="261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Neural Networks (2010s)</a:t>
            </a:r>
          </a:p>
        </p:txBody>
      </p:sp>
      <p:sp>
        <p:nvSpPr>
          <p:cNvPr id="33" name="Text 6"/>
          <p:cNvSpPr txBox="1"/>
          <p:nvPr/>
        </p:nvSpPr>
        <p:spPr>
          <a:xfrm>
            <a:off x="838199" y="2701289"/>
            <a:ext cx="7616954" cy="202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CNNs for images, RNNs for sequences. Medical imaging breakthrough.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2017: The Transformer Revolution</a:t>
            </a:r>
          </a:p>
        </p:txBody>
      </p:sp>
      <p:sp>
        <p:nvSpPr>
          <p:cNvPr id="36" name="Text 1"/>
          <p:cNvSpPr txBox="1"/>
          <p:nvPr/>
        </p:nvSpPr>
        <p:spPr>
          <a:xfrm>
            <a:off x="914400" y="1249680"/>
            <a:ext cx="7620000" cy="888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"Attention is All You Need":</a:t>
            </a:r>
            <a:r>
              <a:rPr b="0">
                <a:solidFill>
                  <a:srgbClr val="CBD5E1"/>
                </a:solidFill>
              </a:rPr>
              <a:t> Parallelizable architecture, long-range context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Efficiency:</a:t>
            </a:r>
            <a:r>
              <a:rPr b="0">
                <a:solidFill>
                  <a:srgbClr val="CBD5E1"/>
                </a:solidFill>
              </a:rPr>
              <a:t> Train on massive data efficiently (GPUs, TPUs)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Impact:</a:t>
            </a:r>
            <a:r>
              <a:rPr b="0">
                <a:solidFill>
                  <a:srgbClr val="CBD5E1"/>
                </a:solidFill>
              </a:rPr>
              <a:t> Foundation for BERT, GPT series, modern LLMs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609600" y="1249679"/>
            <a:ext cx="7924800" cy="937262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9" name="Text 1"/>
          <p:cNvSpPr/>
          <p:nvPr/>
        </p:nvSpPr>
        <p:spPr>
          <a:xfrm>
            <a:off x="609600" y="2186940"/>
            <a:ext cx="7924800" cy="93726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0" name="Text 2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Foundation Models vs LLMs</a:t>
            </a:r>
          </a:p>
        </p:txBody>
      </p:sp>
      <p:sp>
        <p:nvSpPr>
          <p:cNvPr id="41" name="Text 3"/>
          <p:cNvSpPr txBox="1"/>
          <p:nvPr/>
        </p:nvSpPr>
        <p:spPr>
          <a:xfrm>
            <a:off x="838199" y="1478280"/>
            <a:ext cx="7616954" cy="261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Foundation Models</a:t>
            </a:r>
          </a:p>
        </p:txBody>
      </p:sp>
      <p:sp>
        <p:nvSpPr>
          <p:cNvPr id="42" name="Text 4"/>
          <p:cNvSpPr txBox="1"/>
          <p:nvPr/>
        </p:nvSpPr>
        <p:spPr>
          <a:xfrm>
            <a:off x="838199" y="1752599"/>
            <a:ext cx="7616954" cy="189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Pre-trained on massive unlabeled data. General-purpose base for downstream tasks.</a:t>
            </a:r>
          </a:p>
        </p:txBody>
      </p:sp>
      <p:sp>
        <p:nvSpPr>
          <p:cNvPr id="43" name="Text 5"/>
          <p:cNvSpPr txBox="1"/>
          <p:nvPr/>
        </p:nvSpPr>
        <p:spPr>
          <a:xfrm>
            <a:off x="838199" y="2415540"/>
            <a:ext cx="7616954" cy="261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Large Language Models</a:t>
            </a:r>
          </a:p>
        </p:txBody>
      </p:sp>
      <p:sp>
        <p:nvSpPr>
          <p:cNvPr id="44" name="Text 6"/>
          <p:cNvSpPr txBox="1"/>
          <p:nvPr/>
        </p:nvSpPr>
        <p:spPr>
          <a:xfrm>
            <a:off x="838199" y="2689861"/>
            <a:ext cx="7616954" cy="189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Foundation models specialized for text. Billions+ parameters, human-like language.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 txBox="1"/>
          <p:nvPr/>
        </p:nvSpPr>
        <p:spPr>
          <a:xfrm>
            <a:off x="2075056" y="1701165"/>
            <a:ext cx="4993830" cy="803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LLM Growth: The Scaling Law</a:t>
            </a:r>
          </a:p>
        </p:txBody>
      </p:sp>
      <p:sp>
        <p:nvSpPr>
          <p:cNvPr id="47" name="Text 1"/>
          <p:cNvSpPr txBox="1"/>
          <p:nvPr/>
        </p:nvSpPr>
        <p:spPr>
          <a:xfrm>
            <a:off x="2865959" y="2417445"/>
            <a:ext cx="3412082" cy="22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900"/>
              </a:lnSpc>
              <a:defRPr b="1"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2018: BERT</a:t>
            </a:r>
            <a:r>
              <a:rPr b="0"/>
              <a:t> → 340M parameters</a:t>
            </a:r>
          </a:p>
        </p:txBody>
      </p:sp>
      <p:sp>
        <p:nvSpPr>
          <p:cNvPr id="48" name="Text 2"/>
          <p:cNvSpPr txBox="1"/>
          <p:nvPr/>
        </p:nvSpPr>
        <p:spPr>
          <a:xfrm>
            <a:off x="2528621" y="2821304"/>
            <a:ext cx="4086758" cy="2278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900"/>
              </a:lnSpc>
              <a:defRPr b="1"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2023: GPT-4</a:t>
            </a:r>
            <a:r>
              <a:rPr b="0"/>
              <a:t> → 1.70 Trillion parameters</a:t>
            </a:r>
          </a:p>
        </p:txBody>
      </p:sp>
      <p:sp>
        <p:nvSpPr>
          <p:cNvPr id="49" name="Text 3"/>
          <p:cNvSpPr txBox="1"/>
          <p:nvPr/>
        </p:nvSpPr>
        <p:spPr>
          <a:xfrm>
            <a:off x="3086348" y="3225165"/>
            <a:ext cx="2971304" cy="202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700"/>
              </a:lnSpc>
              <a:defRPr sz="11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5 years = 500,000x growth in scale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Key GenAI Model Types (2026)</a:t>
            </a:r>
          </a:p>
        </p:txBody>
      </p:sp>
      <p:sp>
        <p:nvSpPr>
          <p:cNvPr id="52" name="Text 1"/>
          <p:cNvSpPr txBox="1"/>
          <p:nvPr/>
        </p:nvSpPr>
        <p:spPr>
          <a:xfrm>
            <a:off x="914400" y="1249679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Text:</a:t>
            </a:r>
            <a:r>
              <a:rPr b="0">
                <a:solidFill>
                  <a:srgbClr val="CBD5E1"/>
                </a:solidFill>
              </a:rPr>
              <a:t> GPT-4, Claude 3, Gemini Pro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Vision:</a:t>
            </a:r>
            <a:r>
              <a:rPr b="0">
                <a:solidFill>
                  <a:srgbClr val="CBD5E1"/>
                </a:solidFill>
              </a:rPr>
              <a:t> DALL-E 3, Midjourney, Flux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Multimodal:</a:t>
            </a:r>
            <a:r>
              <a:rPr b="0">
                <a:solidFill>
                  <a:srgbClr val="CBD5E1"/>
                </a:solidFill>
              </a:rPr>
              <a:t> GPT-4V, Claude 3.5, Gemini Ultra (process text + image + audio)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Code:</a:t>
            </a:r>
            <a:r>
              <a:rPr b="0">
                <a:solidFill>
                  <a:srgbClr val="CBD5E1"/>
                </a:solidFill>
              </a:rPr>
              <a:t> Claude for Developers, GitHub Copilot, DeepSeek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609600" y="1249680"/>
            <a:ext cx="7924800" cy="90297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5" name="Text 1"/>
          <p:cNvSpPr/>
          <p:nvPr/>
        </p:nvSpPr>
        <p:spPr>
          <a:xfrm>
            <a:off x="609600" y="2152650"/>
            <a:ext cx="7924800" cy="90297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6" name="Text 2"/>
          <p:cNvSpPr/>
          <p:nvPr/>
        </p:nvSpPr>
        <p:spPr>
          <a:xfrm>
            <a:off x="609600" y="3055622"/>
            <a:ext cx="7924800" cy="90297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7" name="Text 3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Leading API-Based Services</a:t>
            </a:r>
          </a:p>
        </p:txBody>
      </p:sp>
      <p:sp>
        <p:nvSpPr>
          <p:cNvPr id="58" name="Text 4"/>
          <p:cNvSpPr txBox="1"/>
          <p:nvPr/>
        </p:nvSpPr>
        <p:spPr>
          <a:xfrm>
            <a:off x="838199" y="1478280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OpenAI</a:t>
            </a:r>
          </a:p>
        </p:txBody>
      </p:sp>
      <p:sp>
        <p:nvSpPr>
          <p:cNvPr id="59" name="Text 5"/>
          <p:cNvSpPr txBox="1"/>
          <p:nvPr/>
        </p:nvSpPr>
        <p:spPr>
          <a:xfrm>
            <a:off x="838199" y="1706882"/>
            <a:ext cx="7616954" cy="202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GPT-4o, 800M+ ChatGPT users, $13B revenue (30% enterprise)</a:t>
            </a:r>
          </a:p>
        </p:txBody>
      </p:sp>
      <p:sp>
        <p:nvSpPr>
          <p:cNvPr id="60" name="Text 6"/>
          <p:cNvSpPr txBox="1"/>
          <p:nvPr/>
        </p:nvSpPr>
        <p:spPr>
          <a:xfrm>
            <a:off x="838199" y="2381250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Anthropic</a:t>
            </a:r>
          </a:p>
        </p:txBody>
      </p:sp>
      <p:sp>
        <p:nvSpPr>
          <p:cNvPr id="61" name="Text 7"/>
          <p:cNvSpPr txBox="1"/>
          <p:nvPr/>
        </p:nvSpPr>
        <p:spPr>
          <a:xfrm>
            <a:off x="838199" y="2609849"/>
            <a:ext cx="7616954" cy="202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Claude 3.5, 300K business customers, $7B revenue (80% B2B)</a:t>
            </a:r>
          </a:p>
        </p:txBody>
      </p:sp>
      <p:sp>
        <p:nvSpPr>
          <p:cNvPr id="62" name="Text 8"/>
          <p:cNvSpPr txBox="1"/>
          <p:nvPr/>
        </p:nvSpPr>
        <p:spPr>
          <a:xfrm>
            <a:off x="838199" y="3284223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Google</a:t>
            </a:r>
          </a:p>
        </p:txBody>
      </p:sp>
      <p:sp>
        <p:nvSpPr>
          <p:cNvPr id="63" name="Text 9"/>
          <p:cNvSpPr txBox="1"/>
          <p:nvPr/>
        </p:nvSpPr>
        <p:spPr>
          <a:xfrm>
            <a:off x="838199" y="3512823"/>
            <a:ext cx="7616954" cy="202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Gemini, integrated Workspace, bundled pricing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Open-Source &amp; HuggingFace Hub</a:t>
            </a:r>
          </a:p>
        </p:txBody>
      </p:sp>
      <p:sp>
        <p:nvSpPr>
          <p:cNvPr id="66" name="Text 1"/>
          <p:cNvSpPr txBox="1"/>
          <p:nvPr/>
        </p:nvSpPr>
        <p:spPr>
          <a:xfrm>
            <a:off x="914400" y="1249681"/>
            <a:ext cx="7620000" cy="888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HuggingFace:</a:t>
            </a:r>
            <a:r>
              <a:rPr b="0">
                <a:solidFill>
                  <a:srgbClr val="CBD5E1"/>
                </a:solidFill>
              </a:rPr>
              <a:t> Model hub with 500K+ open models (Llama 2, Mistral, Phi)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Transformers Library:</a:t>
            </a:r>
            <a:r>
              <a:rPr b="0">
                <a:solidFill>
                  <a:srgbClr val="CBD5E1"/>
                </a:solidFill>
              </a:rPr>
              <a:t> PyTorch/TensorFlow implementations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Trade-off:</a:t>
            </a:r>
            <a:r>
              <a:rPr b="0">
                <a:solidFill>
                  <a:srgbClr val="CBD5E1"/>
                </a:solidFill>
              </a:rPr>
              <a:t> Self-hosting complexity vs. cost savings &amp; privacy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609600" y="1249681"/>
            <a:ext cx="7924800" cy="93726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9" name="Text 1"/>
          <p:cNvSpPr/>
          <p:nvPr/>
        </p:nvSpPr>
        <p:spPr>
          <a:xfrm>
            <a:off x="609600" y="2186940"/>
            <a:ext cx="7924800" cy="93726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70" name="Text 2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From LLMs to AI Agents</a:t>
            </a:r>
          </a:p>
        </p:txBody>
      </p:sp>
      <p:sp>
        <p:nvSpPr>
          <p:cNvPr id="71" name="Text 3"/>
          <p:cNvSpPr txBox="1"/>
          <p:nvPr/>
        </p:nvSpPr>
        <p:spPr>
          <a:xfrm>
            <a:off x="838199" y="1478281"/>
            <a:ext cx="7616954" cy="261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LLM App</a:t>
            </a:r>
          </a:p>
        </p:txBody>
      </p:sp>
      <p:sp>
        <p:nvSpPr>
          <p:cNvPr id="72" name="Text 4"/>
          <p:cNvSpPr txBox="1"/>
          <p:nvPr/>
        </p:nvSpPr>
        <p:spPr>
          <a:xfrm>
            <a:off x="838199" y="1752599"/>
            <a:ext cx="7616954" cy="189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User → Prompt → LLM → Response (stateless)</a:t>
            </a:r>
          </a:p>
        </p:txBody>
      </p:sp>
      <p:sp>
        <p:nvSpPr>
          <p:cNvPr id="73" name="Text 5"/>
          <p:cNvSpPr txBox="1"/>
          <p:nvPr/>
        </p:nvSpPr>
        <p:spPr>
          <a:xfrm>
            <a:off x="838199" y="2415540"/>
            <a:ext cx="7616954" cy="261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AI Agent</a:t>
            </a:r>
          </a:p>
        </p:txBody>
      </p:sp>
      <p:sp>
        <p:nvSpPr>
          <p:cNvPr id="74" name="Text 6"/>
          <p:cNvSpPr txBox="1"/>
          <p:nvPr/>
        </p:nvSpPr>
        <p:spPr>
          <a:xfrm>
            <a:off x="838199" y="2689859"/>
            <a:ext cx="7616954" cy="189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Observe → Think → Act → Loop with tools (agentic)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Agentic AI Ecosystems</a:t>
            </a:r>
          </a:p>
        </p:txBody>
      </p:sp>
      <p:sp>
        <p:nvSpPr>
          <p:cNvPr id="77" name="Text 1"/>
          <p:cNvSpPr txBox="1"/>
          <p:nvPr/>
        </p:nvSpPr>
        <p:spPr>
          <a:xfrm>
            <a:off x="914400" y="1249681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LangChain:</a:t>
            </a:r>
            <a:r>
              <a:rPr b="0">
                <a:solidFill>
                  <a:srgbClr val="CBD5E1"/>
                </a:solidFill>
              </a:rPr>
              <a:t> Framework for building agent chains with tool calling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LangGraph:</a:t>
            </a:r>
            <a:r>
              <a:rPr b="0">
                <a:solidFill>
                  <a:srgbClr val="CBD5E1"/>
                </a:solidFill>
              </a:rPr>
              <a:t> Multi-agent orchestration with stateful graphs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LlamaIndex:</a:t>
            </a:r>
            <a:r>
              <a:rPr b="0">
                <a:solidFill>
                  <a:srgbClr val="CBD5E1"/>
                </a:solidFill>
              </a:rPr>
              <a:t> RAG-focused agents for document intelligence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LangSmith:</a:t>
            </a:r>
            <a:r>
              <a:rPr b="0">
                <a:solidFill>
                  <a:srgbClr val="CBD5E1"/>
                </a:solidFill>
              </a:rPr>
              <a:t> Observability &amp; debugging for agents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609600" y="1249681"/>
            <a:ext cx="7924800" cy="89154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80" name="Text 1"/>
          <p:cNvSpPr/>
          <p:nvPr/>
        </p:nvSpPr>
        <p:spPr>
          <a:xfrm>
            <a:off x="609600" y="2141222"/>
            <a:ext cx="7924800" cy="89154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81" name="Text 2"/>
          <p:cNvSpPr/>
          <p:nvPr/>
        </p:nvSpPr>
        <p:spPr>
          <a:xfrm>
            <a:off x="609600" y="3032759"/>
            <a:ext cx="7924800" cy="89154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82" name="Text 3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Vector Databases &amp; RAG</a:t>
            </a:r>
          </a:p>
        </p:txBody>
      </p:sp>
      <p:sp>
        <p:nvSpPr>
          <p:cNvPr id="83" name="Text 4"/>
          <p:cNvSpPr txBox="1"/>
          <p:nvPr/>
        </p:nvSpPr>
        <p:spPr>
          <a:xfrm>
            <a:off x="838199" y="1478281"/>
            <a:ext cx="7616954" cy="222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Chroma</a:t>
            </a:r>
          </a:p>
        </p:txBody>
      </p:sp>
      <p:sp>
        <p:nvSpPr>
          <p:cNvPr id="84" name="Text 5"/>
          <p:cNvSpPr txBox="1"/>
          <p:nvPr/>
        </p:nvSpPr>
        <p:spPr>
          <a:xfrm>
            <a:off x="838199" y="1706882"/>
            <a:ext cx="7616954" cy="189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Local-first, easy to embed</a:t>
            </a:r>
          </a:p>
        </p:txBody>
      </p:sp>
      <p:sp>
        <p:nvSpPr>
          <p:cNvPr id="85" name="Text 6"/>
          <p:cNvSpPr txBox="1"/>
          <p:nvPr/>
        </p:nvSpPr>
        <p:spPr>
          <a:xfrm>
            <a:off x="838199" y="2369822"/>
            <a:ext cx="7616954" cy="222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FAISS</a:t>
            </a:r>
          </a:p>
        </p:txBody>
      </p:sp>
      <p:sp>
        <p:nvSpPr>
          <p:cNvPr id="86" name="Text 7"/>
          <p:cNvSpPr txBox="1"/>
          <p:nvPr/>
        </p:nvSpPr>
        <p:spPr>
          <a:xfrm>
            <a:off x="838199" y="2598422"/>
            <a:ext cx="7616954" cy="189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Meta's efficient similarity search</a:t>
            </a:r>
          </a:p>
        </p:txBody>
      </p:sp>
      <p:sp>
        <p:nvSpPr>
          <p:cNvPr id="87" name="Text 8"/>
          <p:cNvSpPr txBox="1"/>
          <p:nvPr/>
        </p:nvSpPr>
        <p:spPr>
          <a:xfrm>
            <a:off x="838199" y="3261359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Pinecone</a:t>
            </a:r>
          </a:p>
        </p:txBody>
      </p:sp>
      <p:sp>
        <p:nvSpPr>
          <p:cNvPr id="88" name="Text 9"/>
          <p:cNvSpPr txBox="1"/>
          <p:nvPr/>
        </p:nvSpPr>
        <p:spPr>
          <a:xfrm>
            <a:off x="838199" y="3489959"/>
            <a:ext cx="7616954" cy="189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Managed cloud vector DB</a:t>
            </a:r>
          </a:p>
        </p:txBody>
      </p:sp>
      <p:sp>
        <p:nvSpPr>
          <p:cNvPr id="89" name="Text 10"/>
          <p:cNvSpPr txBox="1"/>
          <p:nvPr/>
        </p:nvSpPr>
        <p:spPr>
          <a:xfrm>
            <a:off x="609600" y="4152900"/>
            <a:ext cx="8083296" cy="237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000"/>
              </a:lnSpc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All enable </a:t>
            </a:r>
            <a:r>
              <a:rPr b="1">
                <a:solidFill>
                  <a:srgbClr val="38BDF8"/>
                </a:solidFill>
              </a:rPr>
              <a:t>Retrieval-Augmented Generation (RAG)</a:t>
            </a:r>
            <a:r>
              <a:t> for grounded AI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GenAI Trends 2026</a:t>
            </a:r>
          </a:p>
        </p:txBody>
      </p:sp>
      <p:sp>
        <p:nvSpPr>
          <p:cNvPr id="92" name="Text 1"/>
          <p:cNvSpPr txBox="1"/>
          <p:nvPr/>
        </p:nvSpPr>
        <p:spPr>
          <a:xfrm>
            <a:off x="914400" y="1249681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Agentic Systems:</a:t>
            </a:r>
            <a:r>
              <a:rPr b="0">
                <a:solidFill>
                  <a:srgbClr val="CBD5E1"/>
                </a:solidFill>
              </a:rPr>
              <a:t> From chat to autonomous workflows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Multimodal Intelligence:</a:t>
            </a:r>
            <a:r>
              <a:rPr b="0">
                <a:solidFill>
                  <a:srgbClr val="CBD5E1"/>
                </a:solidFill>
              </a:rPr>
              <a:t> Text + image + audio + video processing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Synthetic Data:</a:t>
            </a:r>
            <a:r>
              <a:rPr b="0">
                <a:solidFill>
                  <a:srgbClr val="CBD5E1"/>
                </a:solidFill>
              </a:rPr>
              <a:t> Privacy-preserving, domain-specific generation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Domain Models:</a:t>
            </a:r>
            <a:r>
              <a:rPr b="0">
                <a:solidFill>
                  <a:srgbClr val="CBD5E1"/>
                </a:solidFill>
              </a:rPr>
              <a:t> Smaller, fine-tuned models outperforming general LLMs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609600" y="1249681"/>
            <a:ext cx="7924800" cy="109728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95" name="Text 1"/>
          <p:cNvSpPr/>
          <p:nvPr/>
        </p:nvSpPr>
        <p:spPr>
          <a:xfrm>
            <a:off x="609600" y="2346959"/>
            <a:ext cx="7924800" cy="1097281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96" name="Text 2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Market Dynamics: Business Models</a:t>
            </a:r>
          </a:p>
        </p:txBody>
      </p:sp>
      <p:sp>
        <p:nvSpPr>
          <p:cNvPr id="97" name="Text 3"/>
          <p:cNvSpPr txBox="1"/>
          <p:nvPr/>
        </p:nvSpPr>
        <p:spPr>
          <a:xfrm>
            <a:off x="838199" y="1478281"/>
            <a:ext cx="7616954" cy="222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OpenAI</a:t>
            </a:r>
          </a:p>
        </p:txBody>
      </p:sp>
      <p:sp>
        <p:nvSpPr>
          <p:cNvPr id="98" name="Text 4"/>
          <p:cNvSpPr txBox="1"/>
          <p:nvPr/>
        </p:nvSpPr>
        <p:spPr>
          <a:xfrm>
            <a:off x="838199" y="1706882"/>
            <a:ext cx="7616954" cy="189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b="1"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Strategy:</a:t>
            </a:r>
            <a:r>
              <a:rPr b="0"/>
              <a:t> Consumer + Enterprise</a:t>
            </a:r>
          </a:p>
        </p:txBody>
      </p:sp>
      <p:sp>
        <p:nvSpPr>
          <p:cNvPr id="99" name="Text 5"/>
          <p:cNvSpPr txBox="1"/>
          <p:nvPr/>
        </p:nvSpPr>
        <p:spPr>
          <a:xfrm>
            <a:off x="838199" y="1912622"/>
            <a:ext cx="7616954" cy="189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b="1"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Revenue:</a:t>
            </a:r>
            <a:r>
              <a:rPr b="0"/>
              <a:t> $13B/yr (broad market)</a:t>
            </a:r>
          </a:p>
        </p:txBody>
      </p:sp>
      <p:sp>
        <p:nvSpPr>
          <p:cNvPr id="100" name="Text 6"/>
          <p:cNvSpPr txBox="1"/>
          <p:nvPr/>
        </p:nvSpPr>
        <p:spPr>
          <a:xfrm>
            <a:off x="838199" y="2575559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Anthropic</a:t>
            </a:r>
          </a:p>
        </p:txBody>
      </p:sp>
      <p:sp>
        <p:nvSpPr>
          <p:cNvPr id="101" name="Text 7"/>
          <p:cNvSpPr txBox="1"/>
          <p:nvPr/>
        </p:nvSpPr>
        <p:spPr>
          <a:xfrm>
            <a:off x="838199" y="2804159"/>
            <a:ext cx="7616954" cy="189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b="1"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Strategy:</a:t>
            </a:r>
            <a:r>
              <a:rPr b="0"/>
              <a:t> Enterprise-first (80%)</a:t>
            </a:r>
          </a:p>
        </p:txBody>
      </p:sp>
      <p:sp>
        <p:nvSpPr>
          <p:cNvPr id="102" name="Text 8"/>
          <p:cNvSpPr txBox="1"/>
          <p:nvPr/>
        </p:nvSpPr>
        <p:spPr>
          <a:xfrm>
            <a:off x="838199" y="3009899"/>
            <a:ext cx="7616954" cy="189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b="1"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Revenue:</a:t>
            </a:r>
            <a:r>
              <a:rPr b="0"/>
              <a:t> $7B/yr (B2B focus)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Enterprise Adoption in 2026</a:t>
            </a:r>
          </a:p>
        </p:txBody>
      </p:sp>
      <p:sp>
        <p:nvSpPr>
          <p:cNvPr id="105" name="Text 1"/>
          <p:cNvSpPr txBox="1"/>
          <p:nvPr/>
        </p:nvSpPr>
        <p:spPr>
          <a:xfrm>
            <a:off x="914400" y="1249681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From Pilot to Production:</a:t>
            </a:r>
            <a:r>
              <a:rPr b="0">
                <a:solidFill>
                  <a:srgbClr val="CBD5E1"/>
                </a:solidFill>
              </a:rPr>
              <a:t> Operationalization phase reached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Governance Frameworks:</a:t>
            </a:r>
            <a:r>
              <a:rPr b="0">
                <a:solidFill>
                  <a:srgbClr val="CBD5E1"/>
                </a:solidFill>
              </a:rPr>
              <a:t> Ethical AI, compliance, guardrails critical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Multi-Vendor Strategy:</a:t>
            </a:r>
            <a:r>
              <a:rPr b="0">
                <a:solidFill>
                  <a:srgbClr val="CBD5E1"/>
                </a:solidFill>
              </a:rPr>
              <a:t> Organizations avoid single-vendor lock-in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Domain Specialization:</a:t>
            </a:r>
            <a:r>
              <a:rPr b="0">
                <a:solidFill>
                  <a:srgbClr val="CBD5E1"/>
                </a:solidFill>
              </a:rPr>
              <a:t> Healthcare, finance, manufacturing have custom models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108" name="Text 1"/>
          <p:cNvSpPr txBox="1"/>
          <p:nvPr/>
        </p:nvSpPr>
        <p:spPr>
          <a:xfrm>
            <a:off x="914400" y="1249681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GenAI is </a:t>
            </a:r>
            <a:r>
              <a:rPr b="1">
                <a:solidFill>
                  <a:srgbClr val="38BDF8"/>
                </a:solidFill>
              </a:rPr>
              <a:t>multimodal, agentic, and autonomous</a:t>
            </a:r>
            <a:r>
              <a:t> by 2026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Transformers + scale laws = foundation for all modern AI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Ecosystem maturity: APIs, open-source, and frameworks all thriving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Next frontier: Agents with tool-calling, memory, and planning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 txBox="1"/>
          <p:nvPr/>
        </p:nvSpPr>
        <p:spPr>
          <a:xfrm>
            <a:off x="3143214" y="1523051"/>
            <a:ext cx="2857512" cy="803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Next: Deep Dives</a:t>
            </a:r>
          </a:p>
        </p:txBody>
      </p:sp>
      <p:sp>
        <p:nvSpPr>
          <p:cNvPr id="111" name="Text 1"/>
          <p:cNvSpPr txBox="1"/>
          <p:nvPr/>
        </p:nvSpPr>
        <p:spPr>
          <a:xfrm>
            <a:off x="1747340" y="2239333"/>
            <a:ext cx="5649320" cy="26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200"/>
              </a:lnSpc>
              <a:defRPr sz="15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Anatomy of LLMs → Context Engineering → Copilot</a:t>
            </a:r>
          </a:p>
        </p:txBody>
      </p:sp>
      <p:sp>
        <p:nvSpPr>
          <p:cNvPr id="112" name="Text 2"/>
          <p:cNvSpPr txBox="1"/>
          <p:nvPr/>
        </p:nvSpPr>
        <p:spPr>
          <a:xfrm>
            <a:off x="1455512" y="2677483"/>
            <a:ext cx="6232976" cy="26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200"/>
              </a:lnSpc>
              <a:defRPr sz="15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RAG → Agentic Design Patterns → LangChain/LangGraph</a:t>
            </a:r>
          </a:p>
        </p:txBody>
      </p:sp>
      <p:sp>
        <p:nvSpPr>
          <p:cNvPr id="113" name="Text 3"/>
          <p:cNvSpPr txBox="1"/>
          <p:nvPr/>
        </p:nvSpPr>
        <p:spPr>
          <a:xfrm>
            <a:off x="3209280" y="3420433"/>
            <a:ext cx="2725442" cy="3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Let's build agents that reason, act, and scale.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