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tif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tif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867509" y="712788"/>
            <a:ext cx="5408924" cy="1354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400"/>
              </a:lnSpc>
              <a:defRPr b="1" sz="4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Fundamentals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2115800" y="2211388"/>
            <a:ext cx="4912400" cy="66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Retrieval-Augmented Generation for Document Intelligence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811854" y="3214688"/>
            <a:ext cx="3520291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Agentic AI for Developers • Feb 6-7, 2026 • 2 Hour Module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Module Agenda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914400" y="1249680"/>
            <a:ext cx="7620000" cy="149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Why RAG? Limitations of Pure Prompting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RAG Architecture &amp; Data Pipeline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Embeddings: Vector Representations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Vector Databases &amp; Similarity Search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Ecosystem: Models, Databases,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Why RAG Exists</a:t>
            </a:r>
          </a:p>
        </p:txBody>
      </p:sp>
      <p:sp>
        <p:nvSpPr>
          <p:cNvPr id="28" name="Text 1"/>
          <p:cNvSpPr txBox="1"/>
          <p:nvPr/>
        </p:nvSpPr>
        <p:spPr>
          <a:xfrm>
            <a:off x="609600" y="1249680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Limitations of Pure Prompting</a:t>
            </a:r>
          </a:p>
        </p:txBody>
      </p:sp>
      <p:sp>
        <p:nvSpPr>
          <p:cNvPr id="29" name="Text 2"/>
          <p:cNvSpPr txBox="1"/>
          <p:nvPr/>
        </p:nvSpPr>
        <p:spPr>
          <a:xfrm>
            <a:off x="914400" y="1687831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Knowledge cutoff:</a:t>
            </a:r>
            <a:r>
              <a:rPr b="0">
                <a:solidFill>
                  <a:srgbClr val="CBD5E1"/>
                </a:solidFill>
              </a:rPr>
              <a:t> LLMs frozen in training time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Hallucinations:</a:t>
            </a:r>
            <a:r>
              <a:rPr b="0">
                <a:solidFill>
                  <a:srgbClr val="CBD5E1"/>
                </a:solidFill>
              </a:rPr>
              <a:t> No grounding = invented facts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Private data:</a:t>
            </a:r>
            <a:r>
              <a:rPr b="0">
                <a:solidFill>
                  <a:srgbClr val="CBD5E1"/>
                </a:solidFill>
              </a:rPr>
              <a:t> Can't access internal documents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Cost:</a:t>
            </a:r>
            <a:r>
              <a:rPr b="0">
                <a:solidFill>
                  <a:srgbClr val="CBD5E1"/>
                </a:solidFill>
              </a:rPr>
              <a:t> Fine-tuning expensive vs retrieval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The RAG Solution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609600" y="1249680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Retrieve First, Then Generate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914400" y="1687831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Query → Fetch relevant docs → Inject into prompt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LLM answers based on provided context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Grounded responses with citations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Real-time knowledge without retraining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1729194" y="246699"/>
            <a:ext cx="5685612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Architecture Overview</a:t>
            </a:r>
          </a:p>
        </p:txBody>
      </p:sp>
      <p:sp>
        <p:nvSpPr>
          <p:cNvPr id="36" name="Text 1"/>
          <p:cNvSpPr txBox="1"/>
          <p:nvPr/>
        </p:nvSpPr>
        <p:spPr>
          <a:xfrm>
            <a:off x="1912196" y="4798378"/>
            <a:ext cx="5319608" cy="179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Document ingestion → Embeddings → Vector DB → Retrieval → Generation</a:t>
            </a:r>
          </a:p>
        </p:txBody>
      </p:sp>
      <p:pic>
        <p:nvPicPr>
          <p:cNvPr id="3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507" y="699756"/>
            <a:ext cx="7186986" cy="4042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609600" y="1249680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" name="Text 1"/>
          <p:cNvSpPr/>
          <p:nvPr/>
        </p:nvSpPr>
        <p:spPr>
          <a:xfrm>
            <a:off x="609600" y="2141220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" name="Text 2"/>
          <p:cNvSpPr/>
          <p:nvPr/>
        </p:nvSpPr>
        <p:spPr>
          <a:xfrm>
            <a:off x="609600" y="3032761"/>
            <a:ext cx="7924800" cy="891539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2" name="Text 3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Real-World RAG Applications</a:t>
            </a:r>
          </a:p>
        </p:txBody>
      </p:sp>
      <p:sp>
        <p:nvSpPr>
          <p:cNvPr id="43" name="Text 4"/>
          <p:cNvSpPr txBox="1"/>
          <p:nvPr/>
        </p:nvSpPr>
        <p:spPr>
          <a:xfrm>
            <a:off x="838199" y="147828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Enterprise Search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838199" y="1706879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Query internal docs, wikis, Slack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838199" y="236982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Support Bots</a:t>
            </a:r>
          </a:p>
        </p:txBody>
      </p:sp>
      <p:sp>
        <p:nvSpPr>
          <p:cNvPr id="46" name="Text 7"/>
          <p:cNvSpPr txBox="1"/>
          <p:nvPr/>
        </p:nvSpPr>
        <p:spPr>
          <a:xfrm>
            <a:off x="838199" y="2598420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Answer from knowledge base, tickets</a:t>
            </a:r>
          </a:p>
        </p:txBody>
      </p:sp>
      <p:sp>
        <p:nvSpPr>
          <p:cNvPr id="47" name="Text 8"/>
          <p:cNvSpPr txBox="1"/>
          <p:nvPr/>
        </p:nvSpPr>
        <p:spPr>
          <a:xfrm>
            <a:off x="838199" y="3261361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Legal/Financial</a:t>
            </a:r>
          </a:p>
        </p:txBody>
      </p:sp>
      <p:sp>
        <p:nvSpPr>
          <p:cNvPr id="48" name="Text 9"/>
          <p:cNvSpPr txBox="1"/>
          <p:nvPr/>
        </p:nvSpPr>
        <p:spPr>
          <a:xfrm>
            <a:off x="838199" y="3489961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Contract analysis, compliance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Data Pipeline (Indexing)</a:t>
            </a:r>
          </a:p>
        </p:txBody>
      </p:sp>
      <p:sp>
        <p:nvSpPr>
          <p:cNvPr id="51" name="Text 1"/>
          <p:cNvSpPr txBox="1"/>
          <p:nvPr/>
        </p:nvSpPr>
        <p:spPr>
          <a:xfrm>
            <a:off x="609600" y="1249680"/>
            <a:ext cx="8083296" cy="263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Offline: Prepare Your Knowledge Base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914400" y="1687829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1. Ingestion:</a:t>
            </a:r>
            <a:r>
              <a:rPr b="0">
                <a:solidFill>
                  <a:srgbClr val="CBD5E1"/>
                </a:solidFill>
              </a:rPr>
              <a:t> Load documents (PDFs, HTML, text)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2. Chunking:</a:t>
            </a:r>
            <a:r>
              <a:rPr b="0">
                <a:solidFill>
                  <a:srgbClr val="CBD5E1"/>
                </a:solidFill>
              </a:rPr>
              <a:t> Split into manageable pieces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3. Embedding:</a:t>
            </a:r>
            <a:r>
              <a:rPr b="0">
                <a:solidFill>
                  <a:srgbClr val="CBD5E1"/>
                </a:solidFill>
              </a:rPr>
              <a:t> Convert chunks to vectors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4. Indexing:</a:t>
            </a:r>
            <a:r>
              <a:rPr b="0">
                <a:solidFill>
                  <a:srgbClr val="CBD5E1"/>
                </a:solidFill>
              </a:rPr>
              <a:t> Store in vector database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Step 1: Ingestion</a:t>
            </a:r>
          </a:p>
        </p:txBody>
      </p:sp>
      <p:sp>
        <p:nvSpPr>
          <p:cNvPr id="55" name="Text 1"/>
          <p:cNvSpPr txBox="1"/>
          <p:nvPr/>
        </p:nvSpPr>
        <p:spPr>
          <a:xfrm>
            <a:off x="609600" y="1249680"/>
            <a:ext cx="8083296" cy="263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Loading Documents</a:t>
            </a:r>
          </a:p>
        </p:txBody>
      </p:sp>
      <p:sp>
        <p:nvSpPr>
          <p:cNvPr id="56" name="Text 2"/>
          <p:cNvSpPr txBox="1"/>
          <p:nvPr/>
        </p:nvSpPr>
        <p:spPr>
          <a:xfrm>
            <a:off x="914400" y="1687832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Sources:</a:t>
            </a:r>
            <a:r>
              <a:rPr b="0">
                <a:solidFill>
                  <a:srgbClr val="CBD5E1"/>
                </a:solidFill>
              </a:rPr>
              <a:t> PDFs, Word docs, Markdown, HTML, APIs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Tools:</a:t>
            </a:r>
            <a:r>
              <a:rPr b="0">
                <a:solidFill>
                  <a:srgbClr val="CBD5E1"/>
                </a:solidFill>
              </a:rPr>
              <a:t> LangChain loaders, Unstructured.io, PyPDF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Extract:</a:t>
            </a:r>
            <a:r>
              <a:rPr b="0">
                <a:solidFill>
                  <a:srgbClr val="CBD5E1"/>
                </a:solidFill>
              </a:rPr>
              <a:t> Raw text, preserve metadata (page, title)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Step 2: Chunking Strategies</a:t>
            </a:r>
          </a:p>
        </p:txBody>
      </p:sp>
      <p:sp>
        <p:nvSpPr>
          <p:cNvPr id="59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How to Split Documents</a:t>
            </a:r>
          </a:p>
        </p:txBody>
      </p:sp>
      <p:sp>
        <p:nvSpPr>
          <p:cNvPr id="60" name="Text 2"/>
          <p:cNvSpPr txBox="1"/>
          <p:nvPr/>
        </p:nvSpPr>
        <p:spPr>
          <a:xfrm>
            <a:off x="914400" y="1687832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Fixed-size:</a:t>
            </a:r>
            <a:r>
              <a:rPr b="0">
                <a:solidFill>
                  <a:srgbClr val="CBD5E1"/>
                </a:solidFill>
              </a:rPr>
              <a:t> 500-1000 chars, simple but breaks context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Semantic:</a:t>
            </a:r>
            <a:r>
              <a:rPr b="0">
                <a:solidFill>
                  <a:srgbClr val="CBD5E1"/>
                </a:solidFill>
              </a:rPr>
              <a:t> Split by paragraphs, sections (better)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Hierarchical:</a:t>
            </a:r>
            <a:r>
              <a:rPr b="0">
                <a:solidFill>
                  <a:srgbClr val="CBD5E1"/>
                </a:solidFill>
              </a:rPr>
              <a:t> Parent-child chunks for multi-scale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 txBox="1"/>
          <p:nvPr/>
        </p:nvSpPr>
        <p:spPr>
          <a:xfrm>
            <a:off x="2651397" y="170496"/>
            <a:ext cx="3841206" cy="803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Chunking Visualization</a:t>
            </a:r>
          </a:p>
        </p:txBody>
      </p:sp>
      <p:sp>
        <p:nvSpPr>
          <p:cNvPr id="63" name="Text 1"/>
          <p:cNvSpPr txBox="1"/>
          <p:nvPr/>
        </p:nvSpPr>
        <p:spPr>
          <a:xfrm>
            <a:off x="2898612" y="4582478"/>
            <a:ext cx="3346775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Overlap ensures context continuity across chunks</a:t>
            </a:r>
          </a:p>
        </p:txBody>
      </p:sp>
      <p:pic>
        <p:nvPicPr>
          <p:cNvPr id="6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9845" y="989033"/>
            <a:ext cx="6168866" cy="35784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Chunking Code Example</a:t>
            </a:r>
          </a:p>
        </p:txBody>
      </p:sp>
      <p:sp>
        <p:nvSpPr>
          <p:cNvPr id="67" name="Text 1"/>
          <p:cNvSpPr txBox="1"/>
          <p:nvPr/>
        </p:nvSpPr>
        <p:spPr>
          <a:xfrm>
            <a:off x="609600" y="4612404"/>
            <a:ext cx="8083296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Overlap preserves context between adjacent chunks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4331122" y="2405206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69" name="from langchain.text_splitter import RecursiveCharacterTextSplitter…"/>
          <p:cNvSpPr txBox="1"/>
          <p:nvPr/>
        </p:nvSpPr>
        <p:spPr>
          <a:xfrm>
            <a:off x="609600" y="1510029"/>
            <a:ext cx="8083296" cy="2390141"/>
          </a:xfrm>
          <a:prstGeom prst="rect">
            <a:avLst/>
          </a:prstGeom>
          <a:solidFill>
            <a:srgbClr val="1A243E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langchain.text_splitter import RecursiveCharacterTextSplitter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splitter = RecursiveCharacterTextSplitter(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chunk_size=1000,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chunk_overlap=200,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separators=["\n\n", "\n", " ", ""]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chunks = splitter.split_documents(documents)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print(f"Created {len(chunks)} chunks”)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Step 3: Embeddings</a:t>
            </a:r>
          </a:p>
        </p:txBody>
      </p:sp>
      <p:sp>
        <p:nvSpPr>
          <p:cNvPr id="72" name="Text 1"/>
          <p:cNvSpPr txBox="1"/>
          <p:nvPr/>
        </p:nvSpPr>
        <p:spPr>
          <a:xfrm>
            <a:off x="609600" y="1249681"/>
            <a:ext cx="8083296" cy="263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Text → High-Dimensional Vectors</a:t>
            </a:r>
          </a:p>
        </p:txBody>
      </p:sp>
      <p:sp>
        <p:nvSpPr>
          <p:cNvPr id="73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Definition:</a:t>
            </a:r>
            <a:r>
              <a:rPr b="0">
                <a:solidFill>
                  <a:srgbClr val="CBD5E1"/>
                </a:solidFill>
              </a:rPr>
              <a:t> Numerical representations capturing meaning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Dimension:</a:t>
            </a:r>
            <a:r>
              <a:rPr b="0">
                <a:solidFill>
                  <a:srgbClr val="CBD5E1"/>
                </a:solidFill>
              </a:rPr>
              <a:t> 384 to 3072 dimensions typical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Property:</a:t>
            </a:r>
            <a:r>
              <a:rPr b="0">
                <a:solidFill>
                  <a:srgbClr val="CBD5E1"/>
                </a:solidFill>
              </a:rPr>
              <a:t> Similar meaning → Similar vectors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Example:</a:t>
            </a:r>
            <a:r>
              <a:rPr b="0">
                <a:solidFill>
                  <a:srgbClr val="CBD5E1"/>
                </a:solidFill>
              </a:rPr>
              <a:t> "dog" &amp; "puppy" close, "dog" &amp; "car" far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09600" y="1249681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6" name="Text 1"/>
          <p:cNvSpPr/>
          <p:nvPr/>
        </p:nvSpPr>
        <p:spPr>
          <a:xfrm>
            <a:off x="609600" y="2129790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7" name="Text 2"/>
          <p:cNvSpPr/>
          <p:nvPr/>
        </p:nvSpPr>
        <p:spPr>
          <a:xfrm>
            <a:off x="609600" y="3009899"/>
            <a:ext cx="7924800" cy="880112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8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Popular Embedding Models (2026)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838199" y="1478281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OpenAI text-embedding-3</a:t>
            </a:r>
          </a:p>
        </p:txBody>
      </p:sp>
      <p:sp>
        <p:nvSpPr>
          <p:cNvPr id="80" name="Text 5"/>
          <p:cNvSpPr txBox="1"/>
          <p:nvPr/>
        </p:nvSpPr>
        <p:spPr>
          <a:xfrm>
            <a:off x="838199" y="1706882"/>
            <a:ext cx="7616954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3072 dims, $0.02/1M tokens</a:t>
            </a:r>
          </a:p>
        </p:txBody>
      </p:sp>
      <p:sp>
        <p:nvSpPr>
          <p:cNvPr id="81" name="Text 6"/>
          <p:cNvSpPr txBox="1"/>
          <p:nvPr/>
        </p:nvSpPr>
        <p:spPr>
          <a:xfrm>
            <a:off x="838199" y="2358390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Cohere Embed v3</a:t>
            </a:r>
          </a:p>
        </p:txBody>
      </p:sp>
      <p:sp>
        <p:nvSpPr>
          <p:cNvPr id="82" name="Text 7"/>
          <p:cNvSpPr txBox="1"/>
          <p:nvPr/>
        </p:nvSpPr>
        <p:spPr>
          <a:xfrm>
            <a:off x="838199" y="2586990"/>
            <a:ext cx="7616954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1024 dims, rerank-ready</a:t>
            </a:r>
          </a:p>
        </p:txBody>
      </p:sp>
      <p:sp>
        <p:nvSpPr>
          <p:cNvPr id="83" name="Text 8"/>
          <p:cNvSpPr txBox="1"/>
          <p:nvPr/>
        </p:nvSpPr>
        <p:spPr>
          <a:xfrm>
            <a:off x="838199" y="323850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Mistral Embed</a:t>
            </a:r>
          </a:p>
        </p:txBody>
      </p:sp>
      <p:sp>
        <p:nvSpPr>
          <p:cNvPr id="84" name="Text 9"/>
          <p:cNvSpPr txBox="1"/>
          <p:nvPr/>
        </p:nvSpPr>
        <p:spPr>
          <a:xfrm>
            <a:off x="838199" y="3467099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1024 dims, 77.8% accuracy</a:t>
            </a:r>
          </a:p>
        </p:txBody>
      </p:sp>
      <p:sp>
        <p:nvSpPr>
          <p:cNvPr id="85" name="Text 10"/>
          <p:cNvSpPr txBox="1"/>
          <p:nvPr/>
        </p:nvSpPr>
        <p:spPr>
          <a:xfrm>
            <a:off x="609600" y="4042409"/>
            <a:ext cx="8083296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Open-source: BGE-M3, E5-Mistral, Voyage-lite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Creating Embeddings (Code)</a:t>
            </a:r>
          </a:p>
        </p:txBody>
      </p:sp>
      <p:sp>
        <p:nvSpPr>
          <p:cNvPr id="88" name="from langchain.embeddings import OpenAIEmbeddings…"/>
          <p:cNvSpPr txBox="1"/>
          <p:nvPr/>
        </p:nvSpPr>
        <p:spPr>
          <a:xfrm>
            <a:off x="609600" y="1510030"/>
            <a:ext cx="8083296" cy="2771141"/>
          </a:xfrm>
          <a:prstGeom prst="rect">
            <a:avLst/>
          </a:prstGeom>
          <a:solidFill>
            <a:srgbClr val="1A243E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langchain.embeddings import OpenAIEmbeddings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embeddings_model = OpenAIEmbeddings(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model="text-embedding-3-small"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Embed single text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vector = embeddings_model.embed_query("AI agents")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print(f"Vector dims: {len(vector)}")  # 1536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Embed documents batch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doc_vectors = embeddings_model.embed_documents(chunks)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Vector Similarity</a:t>
            </a:r>
          </a:p>
        </p:txBody>
      </p:sp>
      <p:sp>
        <p:nvSpPr>
          <p:cNvPr id="91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Finding "Close" Vectors = Semantic Match</a:t>
            </a:r>
          </a:p>
        </p:txBody>
      </p:sp>
      <p:sp>
        <p:nvSpPr>
          <p:cNvPr id="92" name="Text 2"/>
          <p:cNvSpPr txBox="1"/>
          <p:nvPr/>
        </p:nvSpPr>
        <p:spPr>
          <a:xfrm>
            <a:off x="914400" y="1687832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Cosine Similarity:</a:t>
            </a:r>
            <a:r>
              <a:rPr b="0">
                <a:solidFill>
                  <a:srgbClr val="CBD5E1"/>
                </a:solidFill>
              </a:rPr>
              <a:t> Angle between vectors (0 to 1)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Euclidean Distance:</a:t>
            </a:r>
            <a:r>
              <a:rPr b="0">
                <a:solidFill>
                  <a:srgbClr val="CBD5E1"/>
                </a:solidFill>
              </a:rPr>
              <a:t> Straight-line distance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Dot Product:</a:t>
            </a:r>
            <a:r>
              <a:rPr b="0">
                <a:solidFill>
                  <a:srgbClr val="CBD5E1"/>
                </a:solidFill>
              </a:rPr>
              <a:t> Magnitude + direction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1422217" y="341701"/>
            <a:ext cx="629956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Cosine Similarity Visualization</a:t>
            </a:r>
          </a:p>
        </p:txBody>
      </p:sp>
      <p:sp>
        <p:nvSpPr>
          <p:cNvPr id="95" name="Text 1"/>
          <p:cNvSpPr txBox="1"/>
          <p:nvPr/>
        </p:nvSpPr>
        <p:spPr>
          <a:xfrm>
            <a:off x="2271914" y="4633283"/>
            <a:ext cx="4384247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Smaller angle = higher similarity (0° = identical, 90° = unrelated)</a:t>
            </a:r>
          </a:p>
        </p:txBody>
      </p:sp>
      <p:pic>
        <p:nvPicPr>
          <p:cNvPr id="9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27476" y="927657"/>
            <a:ext cx="4689048" cy="35167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Step 4: Vector Databases</a:t>
            </a:r>
          </a:p>
        </p:txBody>
      </p:sp>
      <p:sp>
        <p:nvSpPr>
          <p:cNvPr id="99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Storing &amp; Searching Embeddings</a:t>
            </a:r>
          </a:p>
        </p:txBody>
      </p:sp>
      <p:sp>
        <p:nvSpPr>
          <p:cNvPr id="100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Purpose:</a:t>
            </a:r>
            <a:r>
              <a:rPr b="0">
                <a:solidFill>
                  <a:srgbClr val="CBD5E1"/>
                </a:solidFill>
              </a:rPr>
              <a:t> Efficient similarity search at scale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Indexing:</a:t>
            </a:r>
            <a:r>
              <a:rPr b="0">
                <a:solidFill>
                  <a:srgbClr val="CBD5E1"/>
                </a:solidFill>
              </a:rPr>
              <a:t> HNSW, IVF for fast retrieval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Metadata:</a:t>
            </a:r>
            <a:r>
              <a:rPr b="0">
                <a:solidFill>
                  <a:srgbClr val="CBD5E1"/>
                </a:solidFill>
              </a:rPr>
              <a:t> Filter by date, category, source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Top-k Search:</a:t>
            </a:r>
            <a:r>
              <a:rPr b="0">
                <a:solidFill>
                  <a:srgbClr val="CBD5E1"/>
                </a:solidFill>
              </a:rPr>
              <a:t> Return k most similar chunks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609600" y="1249681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3" name="Text 1"/>
          <p:cNvSpPr/>
          <p:nvPr/>
        </p:nvSpPr>
        <p:spPr>
          <a:xfrm>
            <a:off x="609600" y="2129795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4" name="Text 2"/>
          <p:cNvSpPr/>
          <p:nvPr/>
        </p:nvSpPr>
        <p:spPr>
          <a:xfrm>
            <a:off x="609600" y="3009899"/>
            <a:ext cx="7924800" cy="880112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5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Popular Vector Databases (2026)</a:t>
            </a:r>
          </a:p>
        </p:txBody>
      </p:sp>
      <p:sp>
        <p:nvSpPr>
          <p:cNvPr id="106" name="Text 4"/>
          <p:cNvSpPr txBox="1"/>
          <p:nvPr/>
        </p:nvSpPr>
        <p:spPr>
          <a:xfrm>
            <a:off x="838199" y="1478281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ChromaDB</a:t>
            </a:r>
          </a:p>
        </p:txBody>
      </p:sp>
      <p:sp>
        <p:nvSpPr>
          <p:cNvPr id="107" name="Text 5"/>
          <p:cNvSpPr txBox="1"/>
          <p:nvPr/>
        </p:nvSpPr>
        <p:spPr>
          <a:xfrm>
            <a:off x="838199" y="1706882"/>
            <a:ext cx="7616954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2.58ms latency, easy local, Python-first</a:t>
            </a:r>
          </a:p>
        </p:txBody>
      </p:sp>
      <p:sp>
        <p:nvSpPr>
          <p:cNvPr id="108" name="Text 6"/>
          <p:cNvSpPr txBox="1"/>
          <p:nvPr/>
        </p:nvSpPr>
        <p:spPr>
          <a:xfrm>
            <a:off x="838199" y="2358395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FAISS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838199" y="2586995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0.34ms ultra-fast, Meta, in-memory</a:t>
            </a:r>
          </a:p>
        </p:txBody>
      </p:sp>
      <p:sp>
        <p:nvSpPr>
          <p:cNvPr id="110" name="Text 8"/>
          <p:cNvSpPr txBox="1"/>
          <p:nvPr/>
        </p:nvSpPr>
        <p:spPr>
          <a:xfrm>
            <a:off x="838199" y="323850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Pinecone</a:t>
            </a:r>
          </a:p>
        </p:txBody>
      </p:sp>
      <p:sp>
        <p:nvSpPr>
          <p:cNvPr id="111" name="Text 9"/>
          <p:cNvSpPr txBox="1"/>
          <p:nvPr/>
        </p:nvSpPr>
        <p:spPr>
          <a:xfrm>
            <a:off x="838199" y="3467099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326ms, managed cloud, production-ready</a:t>
            </a:r>
          </a:p>
        </p:txBody>
      </p:sp>
      <p:sp>
        <p:nvSpPr>
          <p:cNvPr id="112" name="Text 10"/>
          <p:cNvSpPr txBox="1"/>
          <p:nvPr/>
        </p:nvSpPr>
        <p:spPr>
          <a:xfrm>
            <a:off x="609600" y="4042414"/>
            <a:ext cx="8083296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Also: Weaviate, Qdrant, Milvus, pgvector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2101907" y="246701"/>
            <a:ext cx="494018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Vector Similarity Search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2651579" y="4620583"/>
            <a:ext cx="3840842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Query vector finds nearest neighbors in high-dimensional space</a:t>
            </a:r>
          </a:p>
        </p:txBody>
      </p:sp>
      <p:pic>
        <p:nvPicPr>
          <p:cNvPr id="1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76436" y="810460"/>
            <a:ext cx="4592789" cy="3643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ChromaDB: Store &amp; Query</a:t>
            </a:r>
          </a:p>
        </p:txBody>
      </p:sp>
      <p:sp>
        <p:nvSpPr>
          <p:cNvPr id="119" name="from langchain.vectorstores import Chroma…"/>
          <p:cNvSpPr txBox="1"/>
          <p:nvPr/>
        </p:nvSpPr>
        <p:spPr>
          <a:xfrm>
            <a:off x="609600" y="1497330"/>
            <a:ext cx="8083296" cy="2961641"/>
          </a:xfrm>
          <a:prstGeom prst="rect">
            <a:avLst/>
          </a:prstGeom>
          <a:solidFill>
            <a:srgbClr val="1A243E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langchain.vectorstores import Chroma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vectorstore = Chroma.from_documents(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documents=chunks,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embedding=embeddings_model,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collection_name="docs"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Query for top 3 results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results = vectorstore.similarity_search(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"What is RAG?", k=3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print(results[0].page_content)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Retrieval Phase (Query Time)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Online: Answering User Questions</a:t>
            </a:r>
          </a:p>
        </p:txBody>
      </p:sp>
      <p:sp>
        <p:nvSpPr>
          <p:cNvPr id="123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1. Embed Query:</a:t>
            </a:r>
            <a:r>
              <a:rPr b="0">
                <a:solidFill>
                  <a:srgbClr val="CBD5E1"/>
                </a:solidFill>
              </a:rPr>
              <a:t> Convert question to vector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2. Search:</a:t>
            </a:r>
            <a:r>
              <a:rPr b="0">
                <a:solidFill>
                  <a:srgbClr val="CBD5E1"/>
                </a:solidFill>
              </a:rPr>
              <a:t> Find top-k similar chunks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3. Inject Context:</a:t>
            </a:r>
            <a:r>
              <a:rPr b="0">
                <a:solidFill>
                  <a:srgbClr val="CBD5E1"/>
                </a:solidFill>
              </a:rPr>
              <a:t> Add chunks to prompt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4. Generate:</a:t>
            </a:r>
            <a:r>
              <a:rPr b="0">
                <a:solidFill>
                  <a:srgbClr val="CBD5E1"/>
                </a:solidFill>
              </a:rPr>
              <a:t> LLM answers with grounding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Similarity Search Types</a:t>
            </a:r>
          </a:p>
        </p:txBody>
      </p:sp>
      <p:sp>
        <p:nvSpPr>
          <p:cNvPr id="126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Beyond Basic Vector Search</a:t>
            </a:r>
          </a:p>
        </p:txBody>
      </p:sp>
      <p:sp>
        <p:nvSpPr>
          <p:cNvPr id="127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Vector-only:</a:t>
            </a:r>
            <a:r>
              <a:rPr b="0">
                <a:solidFill>
                  <a:srgbClr val="CBD5E1"/>
                </a:solidFill>
              </a:rPr>
              <a:t> Pure semantic similarity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Hybrid (BM25 + Vector):</a:t>
            </a:r>
            <a:r>
              <a:rPr b="0">
                <a:solidFill>
                  <a:srgbClr val="CBD5E1"/>
                </a:solidFill>
              </a:rPr>
              <a:t> Keyword + semantic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Metadata Filtering:</a:t>
            </a:r>
            <a:r>
              <a:rPr b="0">
                <a:solidFill>
                  <a:srgbClr val="CBD5E1"/>
                </a:solidFill>
              </a:rPr>
              <a:t> Filter by date, source first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Re-ranking:</a:t>
            </a:r>
            <a:r>
              <a:rPr b="0">
                <a:solidFill>
                  <a:srgbClr val="CBD5E1"/>
                </a:solidFill>
              </a:rPr>
              <a:t> Cohere rerank for precision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Hybrid Search Example</a:t>
            </a:r>
          </a:p>
        </p:txBody>
      </p:sp>
      <p:sp>
        <p:nvSpPr>
          <p:cNvPr id="130" name="from langchain.retrievers import EnsembleRetriever…"/>
          <p:cNvSpPr txBox="1"/>
          <p:nvPr/>
        </p:nvSpPr>
        <p:spPr>
          <a:xfrm>
            <a:off x="609600" y="1510030"/>
            <a:ext cx="8083296" cy="3152141"/>
          </a:xfrm>
          <a:prstGeom prst="rect">
            <a:avLst/>
          </a:prstGeom>
          <a:solidFill>
            <a:srgbClr val="1A243E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langchain.retrievers import EnsembleRetriever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langchain.retrievers import BM25Retriever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Vector retriever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vector_retriever = vectorstore.as_retriever(k=5)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Keyword retriever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bm25_retriever = BM25Retriever.from_documents(chunks)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Combine both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ensemble = EnsembleRetriever(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retrievers=[vector_retriever, bm25_retriever],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weights=[0.5, 0.5]</a:t>
            </a:r>
          </a:p>
          <a:p>
            <a:pPr lvl="1" indent="228600" defTabSz="457200">
              <a:defRPr sz="136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&amp; Context Windows</a:t>
            </a:r>
          </a:p>
        </p:txBody>
      </p:sp>
      <p:sp>
        <p:nvSpPr>
          <p:cNvPr id="133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How RAG Extends Model Memory</a:t>
            </a:r>
          </a:p>
        </p:txBody>
      </p:sp>
      <p:sp>
        <p:nvSpPr>
          <p:cNvPr id="134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Problem:</a:t>
            </a:r>
            <a:r>
              <a:rPr b="0">
                <a:solidFill>
                  <a:srgbClr val="CBD5E1"/>
                </a:solidFill>
              </a:rPr>
              <a:t> LLM context limited (4K-2M tokens)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RAG Solution:</a:t>
            </a:r>
            <a:r>
              <a:rPr b="0">
                <a:solidFill>
                  <a:srgbClr val="CBD5E1"/>
                </a:solidFill>
              </a:rPr>
              <a:t> Retrieve only relevant chunks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Efficiency:</a:t>
            </a:r>
            <a:r>
              <a:rPr b="0">
                <a:solidFill>
                  <a:srgbClr val="CBD5E1"/>
                </a:solidFill>
              </a:rPr>
              <a:t> 3-5 chunks (3K tokens) vs entire corpus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Trade-off:</a:t>
            </a:r>
            <a:r>
              <a:rPr b="0">
                <a:solidFill>
                  <a:srgbClr val="CBD5E1"/>
                </a:solidFill>
              </a:rPr>
              <a:t> Retrieval accuracy vs context size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2072944" y="157801"/>
            <a:ext cx="4998112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Context Injection</a:t>
            </a:r>
          </a:p>
        </p:txBody>
      </p:sp>
      <p:sp>
        <p:nvSpPr>
          <p:cNvPr id="137" name="Text 1"/>
          <p:cNvSpPr txBox="1"/>
          <p:nvPr/>
        </p:nvSpPr>
        <p:spPr>
          <a:xfrm>
            <a:off x="3178402" y="4696783"/>
            <a:ext cx="2787196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Retrieved chunks fill context window efficiently</a:t>
            </a:r>
          </a:p>
        </p:txBody>
      </p:sp>
      <p:pic>
        <p:nvPicPr>
          <p:cNvPr id="13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88838" y="500757"/>
            <a:ext cx="5147324" cy="4141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Complete RAG Chain (Code)</a:t>
            </a:r>
          </a:p>
        </p:txBody>
      </p:sp>
      <p:sp>
        <p:nvSpPr>
          <p:cNvPr id="141" name="from langchain.chains import RetrievalQA…"/>
          <p:cNvSpPr txBox="1"/>
          <p:nvPr/>
        </p:nvSpPr>
        <p:spPr>
          <a:xfrm>
            <a:off x="609600" y="1510030"/>
            <a:ext cx="8083296" cy="2948941"/>
          </a:xfrm>
          <a:prstGeom prst="rect">
            <a:avLst/>
          </a:prstGeom>
          <a:solidFill>
            <a:srgbClr val="1A243E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langchain.chains import RetrievalQA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langchain.chat_models import ChatOpenAI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llm = ChatOpenAI(model="gpt-4o-mini")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qa_chain = RetrievalQA.from_chain_type(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llm=llm,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retriever=vectorstore.as_retriever(k=3),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return_source_documents=True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response = qa_chain("Explain RAG architecture")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print(response['result'])</a:t>
            </a:r>
          </a:p>
          <a:p>
            <a:pPr lvl="1" indent="228600" defTabSz="457200">
              <a:defRPr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print(f"Sources: {len(response[‘source_documents'])}")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 txBox="1"/>
          <p:nvPr/>
        </p:nvSpPr>
        <p:spPr>
          <a:xfrm>
            <a:off x="609600" y="609599"/>
            <a:ext cx="8083296" cy="397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Query → Retrieval → Answer Traceability</a:t>
            </a:r>
          </a:p>
        </p:txBody>
      </p:sp>
      <p:sp>
        <p:nvSpPr>
          <p:cNvPr id="144" name="Text 1"/>
          <p:cNvSpPr txBox="1"/>
          <p:nvPr/>
        </p:nvSpPr>
        <p:spPr>
          <a:xfrm>
            <a:off x="914400" y="1249681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Track Sources:</a:t>
            </a:r>
            <a:r>
              <a:rPr b="0">
                <a:solidFill>
                  <a:srgbClr val="CBD5E1"/>
                </a:solidFill>
              </a:rPr>
              <a:t> Which chunks were used?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Citations:</a:t>
            </a:r>
            <a:r>
              <a:rPr b="0">
                <a:solidFill>
                  <a:srgbClr val="CBD5E1"/>
                </a:solidFill>
              </a:rPr>
              <a:t> Return page numbers, URLs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Confidence:</a:t>
            </a:r>
            <a:r>
              <a:rPr b="0">
                <a:solidFill>
                  <a:srgbClr val="CBD5E1"/>
                </a:solidFill>
              </a:rPr>
              <a:t> Similarity scores reveal relevance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Debugging:</a:t>
            </a:r>
            <a:r>
              <a:rPr b="0">
                <a:solidFill>
                  <a:srgbClr val="CBD5E1"/>
                </a:solidFill>
              </a:rPr>
              <a:t> Inspect retrieved context quality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Advanced RAG Techniques</a:t>
            </a:r>
          </a:p>
        </p:txBody>
      </p:sp>
      <p:sp>
        <p:nvSpPr>
          <p:cNvPr id="147" name="Text 1"/>
          <p:cNvSpPr txBox="1"/>
          <p:nvPr/>
        </p:nvSpPr>
        <p:spPr>
          <a:xfrm>
            <a:off x="914400" y="1249681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Query Expansion:</a:t>
            </a:r>
            <a:r>
              <a:rPr b="0">
                <a:solidFill>
                  <a:srgbClr val="CBD5E1"/>
                </a:solidFill>
              </a:rPr>
              <a:t> Generate multiple query variants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Hypothetical Document:</a:t>
            </a:r>
            <a:r>
              <a:rPr b="0">
                <a:solidFill>
                  <a:srgbClr val="CBD5E1"/>
                </a:solidFill>
              </a:rPr>
              <a:t> LLM generates ideal doc, search for it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Parent-Child Chunks:</a:t>
            </a:r>
            <a:r>
              <a:rPr b="0">
                <a:solidFill>
                  <a:srgbClr val="CBD5E1"/>
                </a:solidFill>
              </a:rPr>
              <a:t> Retrieve small, inject large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Adaptive Retrieval:</a:t>
            </a:r>
            <a:r>
              <a:rPr b="0">
                <a:solidFill>
                  <a:srgbClr val="CBD5E1"/>
                </a:solidFill>
              </a:rPr>
              <a:t> Fetch more if answer uncertain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609600" y="1249681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0" name="Text 1"/>
          <p:cNvSpPr/>
          <p:nvPr/>
        </p:nvSpPr>
        <p:spPr>
          <a:xfrm>
            <a:off x="609600" y="2129795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1" name="Text 2"/>
          <p:cNvSpPr/>
          <p:nvPr/>
        </p:nvSpPr>
        <p:spPr>
          <a:xfrm>
            <a:off x="609600" y="3009899"/>
            <a:ext cx="7924800" cy="880112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2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Challenges &amp; Solutions</a:t>
            </a:r>
          </a:p>
        </p:txBody>
      </p:sp>
      <p:sp>
        <p:nvSpPr>
          <p:cNvPr id="153" name="Text 4"/>
          <p:cNvSpPr txBox="1"/>
          <p:nvPr/>
        </p:nvSpPr>
        <p:spPr>
          <a:xfrm>
            <a:off x="838199" y="1478281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Poor Retrieval</a:t>
            </a:r>
          </a:p>
        </p:txBody>
      </p:sp>
      <p:sp>
        <p:nvSpPr>
          <p:cNvPr id="154" name="Text 5"/>
          <p:cNvSpPr txBox="1"/>
          <p:nvPr/>
        </p:nvSpPr>
        <p:spPr>
          <a:xfrm>
            <a:off x="838199" y="1706882"/>
            <a:ext cx="7616954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Improve chunking, try hybrid search</a:t>
            </a:r>
          </a:p>
        </p:txBody>
      </p:sp>
      <p:sp>
        <p:nvSpPr>
          <p:cNvPr id="155" name="Text 6"/>
          <p:cNvSpPr txBox="1"/>
          <p:nvPr/>
        </p:nvSpPr>
        <p:spPr>
          <a:xfrm>
            <a:off x="838199" y="2358395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Noise in Context</a:t>
            </a:r>
          </a:p>
        </p:txBody>
      </p:sp>
      <p:sp>
        <p:nvSpPr>
          <p:cNvPr id="156" name="Text 7"/>
          <p:cNvSpPr txBox="1"/>
          <p:nvPr/>
        </p:nvSpPr>
        <p:spPr>
          <a:xfrm>
            <a:off x="838199" y="2586995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Use reranking models</a:t>
            </a:r>
          </a:p>
        </p:txBody>
      </p:sp>
      <p:sp>
        <p:nvSpPr>
          <p:cNvPr id="157" name="Text 8"/>
          <p:cNvSpPr txBox="1"/>
          <p:nvPr/>
        </p:nvSpPr>
        <p:spPr>
          <a:xfrm>
            <a:off x="838199" y="323850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Latency</a:t>
            </a:r>
          </a:p>
        </p:txBody>
      </p:sp>
      <p:sp>
        <p:nvSpPr>
          <p:cNvPr id="158" name="Text 9"/>
          <p:cNvSpPr txBox="1"/>
          <p:nvPr/>
        </p:nvSpPr>
        <p:spPr>
          <a:xfrm>
            <a:off x="838199" y="3467099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Cache embeddings, optimize indexes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Evaluating RAG Systems</a:t>
            </a:r>
          </a:p>
        </p:txBody>
      </p:sp>
      <p:sp>
        <p:nvSpPr>
          <p:cNvPr id="161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Key Metrics</a:t>
            </a:r>
          </a:p>
        </p:txBody>
      </p:sp>
      <p:sp>
        <p:nvSpPr>
          <p:cNvPr id="162" name="Text 2"/>
          <p:cNvSpPr txBox="1"/>
          <p:nvPr/>
        </p:nvSpPr>
        <p:spPr>
          <a:xfrm>
            <a:off x="914400" y="1687840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Retrieval Precision:</a:t>
            </a:r>
            <a:r>
              <a:rPr b="0">
                <a:solidFill>
                  <a:srgbClr val="CBD5E1"/>
                </a:solidFill>
              </a:rPr>
              <a:t> Are retrieved chunks relevant?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Answer Faithfulness:</a:t>
            </a:r>
            <a:r>
              <a:rPr b="0">
                <a:solidFill>
                  <a:srgbClr val="CBD5E1"/>
                </a:solidFill>
              </a:rPr>
              <a:t> Does answer match sources?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Answer Relevance:</a:t>
            </a:r>
            <a:r>
              <a:rPr b="0">
                <a:solidFill>
                  <a:srgbClr val="CBD5E1"/>
                </a:solidFill>
              </a:rPr>
              <a:t> Does it address the query?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Latency:</a:t>
            </a:r>
            <a:r>
              <a:rPr b="0">
                <a:solidFill>
                  <a:srgbClr val="CBD5E1"/>
                </a:solidFill>
              </a:rPr>
              <a:t> End-to-end response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609600" y="1249690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5" name="Text 1"/>
          <p:cNvSpPr/>
          <p:nvPr/>
        </p:nvSpPr>
        <p:spPr>
          <a:xfrm>
            <a:off x="609600" y="2129786"/>
            <a:ext cx="7924800" cy="88011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6" name="Text 2"/>
          <p:cNvSpPr/>
          <p:nvPr/>
        </p:nvSpPr>
        <p:spPr>
          <a:xfrm>
            <a:off x="609600" y="3009899"/>
            <a:ext cx="7924800" cy="880112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7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Frameworks</a:t>
            </a:r>
          </a:p>
        </p:txBody>
      </p:sp>
      <p:sp>
        <p:nvSpPr>
          <p:cNvPr id="168" name="Text 4"/>
          <p:cNvSpPr txBox="1"/>
          <p:nvPr/>
        </p:nvSpPr>
        <p:spPr>
          <a:xfrm>
            <a:off x="838199" y="1478290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LangChain</a:t>
            </a:r>
          </a:p>
        </p:txBody>
      </p:sp>
      <p:sp>
        <p:nvSpPr>
          <p:cNvPr id="169" name="Text 5"/>
          <p:cNvSpPr txBox="1"/>
          <p:nvPr/>
        </p:nvSpPr>
        <p:spPr>
          <a:xfrm>
            <a:off x="838199" y="1706890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Full-stack, chains, agents, integrations</a:t>
            </a:r>
          </a:p>
        </p:txBody>
      </p:sp>
      <p:sp>
        <p:nvSpPr>
          <p:cNvPr id="170" name="Text 6"/>
          <p:cNvSpPr txBox="1"/>
          <p:nvPr/>
        </p:nvSpPr>
        <p:spPr>
          <a:xfrm>
            <a:off x="838199" y="2358386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LlamaIndex</a:t>
            </a:r>
          </a:p>
        </p:txBody>
      </p:sp>
      <p:sp>
        <p:nvSpPr>
          <p:cNvPr id="171" name="Text 7"/>
          <p:cNvSpPr txBox="1"/>
          <p:nvPr/>
        </p:nvSpPr>
        <p:spPr>
          <a:xfrm>
            <a:off x="838199" y="2586986"/>
            <a:ext cx="7616954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RAG-focused, data connectors, indexing</a:t>
            </a:r>
          </a:p>
        </p:txBody>
      </p:sp>
      <p:sp>
        <p:nvSpPr>
          <p:cNvPr id="172" name="Text 8"/>
          <p:cNvSpPr txBox="1"/>
          <p:nvPr/>
        </p:nvSpPr>
        <p:spPr>
          <a:xfrm>
            <a:off x="838199" y="323850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Haystack</a:t>
            </a:r>
          </a:p>
        </p:txBody>
      </p:sp>
      <p:sp>
        <p:nvSpPr>
          <p:cNvPr id="173" name="Text 9"/>
          <p:cNvSpPr txBox="1"/>
          <p:nvPr/>
        </p:nvSpPr>
        <p:spPr>
          <a:xfrm>
            <a:off x="838199" y="3467099"/>
            <a:ext cx="7616954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NLP pipelines, production-ready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Production RAG Considerations</a:t>
            </a:r>
          </a:p>
        </p:txBody>
      </p:sp>
      <p:sp>
        <p:nvSpPr>
          <p:cNvPr id="176" name="Text 1"/>
          <p:cNvSpPr txBox="1"/>
          <p:nvPr/>
        </p:nvSpPr>
        <p:spPr>
          <a:xfrm>
            <a:off x="914400" y="1249690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Data Freshness:</a:t>
            </a:r>
            <a:r>
              <a:rPr b="0">
                <a:solidFill>
                  <a:srgbClr val="CBD5E1"/>
                </a:solidFill>
              </a:rPr>
              <a:t> Incremental updates vs full reindex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Cost:</a:t>
            </a:r>
            <a:r>
              <a:rPr b="0">
                <a:solidFill>
                  <a:srgbClr val="CBD5E1"/>
                </a:solidFill>
              </a:rPr>
              <a:t> Embedding API calls, vector storage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Monitoring:</a:t>
            </a:r>
            <a:r>
              <a:rPr b="0">
                <a:solidFill>
                  <a:srgbClr val="CBD5E1"/>
                </a:solidFill>
              </a:rPr>
              <a:t> Track retrieval quality, latency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Security:</a:t>
            </a:r>
            <a:r>
              <a:rPr b="0">
                <a:solidFill>
                  <a:srgbClr val="CBD5E1"/>
                </a:solidFill>
              </a:rPr>
              <a:t> Access control, data isolation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Hands-On Lab: Build a RAG System</a:t>
            </a:r>
          </a:p>
        </p:txBody>
      </p:sp>
      <p:sp>
        <p:nvSpPr>
          <p:cNvPr id="179" name="Text 1"/>
          <p:cNvSpPr txBox="1"/>
          <p:nvPr/>
        </p:nvSpPr>
        <p:spPr>
          <a:xfrm>
            <a:off x="609600" y="1249690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What You'll Build (Next 30 min)</a:t>
            </a:r>
          </a:p>
        </p:txBody>
      </p:sp>
      <p:sp>
        <p:nvSpPr>
          <p:cNvPr id="180" name="Text 2"/>
          <p:cNvSpPr txBox="1"/>
          <p:nvPr/>
        </p:nvSpPr>
        <p:spPr>
          <a:xfrm>
            <a:off x="914400" y="1687840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Load PDF documents (course materials)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Chunk &amp; embed with OpenAI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Store in ChromaDB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Query with traceability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914400" y="1249690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RAG = Retrieval + LLM Generation for grounded answers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Pipeline: Ingest → Chunk → Embed → Store → Retrieve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Embeddings map text to semantic vector space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Vector DBs enable efficient similarity 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3286244" y="1856426"/>
            <a:ext cx="2499313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186" name="Text 1"/>
          <p:cNvSpPr txBox="1"/>
          <p:nvPr/>
        </p:nvSpPr>
        <p:spPr>
          <a:xfrm>
            <a:off x="2926255" y="2572698"/>
            <a:ext cx="3219292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sz="15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Let's build your RAG system!</a:t>
            </a:r>
          </a:p>
        </p:txBody>
      </p:sp>
      <p:sp>
        <p:nvSpPr>
          <p:cNvPr id="187" name="Text 2"/>
          <p:cNvSpPr txBox="1"/>
          <p:nvPr/>
        </p:nvSpPr>
        <p:spPr>
          <a:xfrm>
            <a:off x="3124269" y="3087048"/>
            <a:ext cx="2895402" cy="369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Next: Hands-On RAG Lab with Real Documents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