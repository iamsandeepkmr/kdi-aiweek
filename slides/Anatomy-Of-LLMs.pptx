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609600" y="1385887"/>
            <a:ext cx="7924800" cy="13544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5400"/>
              </a:lnSpc>
              <a:defRPr b="1" sz="4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Anatomy of Large Language Models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2277441" y="2909888"/>
            <a:ext cx="4589118" cy="665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700"/>
              </a:lnSpc>
              <a:defRPr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Understanding the Engine Behind Agentic AI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2811854" y="3557587"/>
            <a:ext cx="3520292" cy="3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500"/>
              </a:lnSpc>
              <a:defRPr sz="1000">
                <a:solidFill>
                  <a:srgbClr val="94A3B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Agentic AI for Developers • Feb 6-7, 2026 • 1 Hour Module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 txBox="1"/>
          <p:nvPr/>
        </p:nvSpPr>
        <p:spPr>
          <a:xfrm>
            <a:off x="609600" y="609600"/>
            <a:ext cx="8083296" cy="397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Module Agenda</a:t>
            </a:r>
          </a:p>
        </p:txBody>
      </p:sp>
      <p:sp>
        <p:nvSpPr>
          <p:cNvPr id="25" name="Text 1"/>
          <p:cNvSpPr txBox="1"/>
          <p:nvPr/>
        </p:nvSpPr>
        <p:spPr>
          <a:xfrm>
            <a:off x="914400" y="1249680"/>
            <a:ext cx="7620000" cy="1497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Transformer Architecture Deep Dive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Embeddings vs Seq2Seq Models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Self-Attention &amp; Multi-Head Magic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Training: Pretrain → Fine-tune → Instruction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Context Windows &amp; Hallucination Traps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What Powers Modern AI Agents?</a:t>
            </a:r>
          </a:p>
        </p:txBody>
      </p:sp>
      <p:sp>
        <p:nvSpPr>
          <p:cNvPr id="28" name="Text 1"/>
          <p:cNvSpPr txBox="1"/>
          <p:nvPr/>
        </p:nvSpPr>
        <p:spPr>
          <a:xfrm>
            <a:off x="609600" y="1249680"/>
            <a:ext cx="8083296" cy="263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Transformer Architecture (2017 → )</a:t>
            </a:r>
          </a:p>
        </p:txBody>
      </p:sp>
      <p:sp>
        <p:nvSpPr>
          <p:cNvPr id="29" name="Text 2"/>
          <p:cNvSpPr txBox="1"/>
          <p:nvPr/>
        </p:nvSpPr>
        <p:spPr>
          <a:xfrm>
            <a:off x="914400" y="1687831"/>
            <a:ext cx="7620000" cy="888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Replaced RNNs/LSTMs (sequential, slow)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Parallel processing via self-attention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Foundation for GPT-4o, Claude 3.5, Gemini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96439" y="531198"/>
            <a:ext cx="5151122" cy="4292561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Text 0"/>
          <p:cNvSpPr txBox="1"/>
          <p:nvPr/>
        </p:nvSpPr>
        <p:spPr>
          <a:xfrm>
            <a:off x="1513598" y="183217"/>
            <a:ext cx="6116804" cy="397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Transformer Architecture</a:t>
            </a:r>
          </a:p>
        </p:txBody>
      </p:sp>
      <p:sp>
        <p:nvSpPr>
          <p:cNvPr id="33" name="Text 1"/>
          <p:cNvSpPr txBox="1"/>
          <p:nvPr/>
        </p:nvSpPr>
        <p:spPr>
          <a:xfrm>
            <a:off x="2609568" y="4798359"/>
            <a:ext cx="3924864" cy="179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500"/>
              </a:lnSpc>
              <a:defRPr sz="1000">
                <a:solidFill>
                  <a:srgbClr val="94A3B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Encoder-Decoder stack with multi-head attention layers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Core Building Block: Embeddings</a:t>
            </a:r>
          </a:p>
        </p:txBody>
      </p:sp>
      <p:sp>
        <p:nvSpPr>
          <p:cNvPr id="36" name="Text 1"/>
          <p:cNvSpPr txBox="1"/>
          <p:nvPr/>
        </p:nvSpPr>
        <p:spPr>
          <a:xfrm>
            <a:off x="609600" y="1249680"/>
            <a:ext cx="8083296" cy="263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Token → Vector Magic</a:t>
            </a:r>
          </a:p>
        </p:txBody>
      </p:sp>
      <p:sp>
        <p:nvSpPr>
          <p:cNvPr id="37" name="Text 2"/>
          <p:cNvSpPr txBox="1"/>
          <p:nvPr/>
        </p:nvSpPr>
        <p:spPr>
          <a:xfrm>
            <a:off x="914400" y="1687829"/>
            <a:ext cx="7620000" cy="1192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Words → High-dimensional numbers (e.g., 4096 dims)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Captures semantic similarity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Example: "king" - "man" + "woman" ≈ "queen"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Positional encodings add sequence order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609600" y="1249680"/>
            <a:ext cx="7924800" cy="948690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0" name="Text 1"/>
          <p:cNvSpPr/>
          <p:nvPr/>
        </p:nvSpPr>
        <p:spPr>
          <a:xfrm>
            <a:off x="609600" y="2198370"/>
            <a:ext cx="7924800" cy="948690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1" name="Text 2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Embeddings vs Seq2Seq</a:t>
            </a:r>
          </a:p>
        </p:txBody>
      </p:sp>
      <p:sp>
        <p:nvSpPr>
          <p:cNvPr id="42" name="Text 3"/>
          <p:cNvSpPr txBox="1"/>
          <p:nvPr/>
        </p:nvSpPr>
        <p:spPr>
          <a:xfrm>
            <a:off x="838199" y="1478280"/>
            <a:ext cx="7616954" cy="261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b="1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Transformers (Embeddings)</a:t>
            </a:r>
          </a:p>
        </p:txBody>
      </p:sp>
      <p:sp>
        <p:nvSpPr>
          <p:cNvPr id="43" name="Text 4"/>
          <p:cNvSpPr txBox="1"/>
          <p:nvPr/>
        </p:nvSpPr>
        <p:spPr>
          <a:xfrm>
            <a:off x="838199" y="1752599"/>
            <a:ext cx="7616954" cy="202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1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Parallel processing, global context, 1T+ params</a:t>
            </a:r>
          </a:p>
        </p:txBody>
      </p:sp>
      <p:sp>
        <p:nvSpPr>
          <p:cNvPr id="44" name="Text 5"/>
          <p:cNvSpPr txBox="1"/>
          <p:nvPr/>
        </p:nvSpPr>
        <p:spPr>
          <a:xfrm>
            <a:off x="838199" y="2426970"/>
            <a:ext cx="7616954" cy="261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b="1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RNNs (Seq2Seq)</a:t>
            </a:r>
          </a:p>
        </p:txBody>
      </p:sp>
      <p:sp>
        <p:nvSpPr>
          <p:cNvPr id="45" name="Text 6"/>
          <p:cNvSpPr txBox="1"/>
          <p:nvPr/>
        </p:nvSpPr>
        <p:spPr>
          <a:xfrm>
            <a:off x="838199" y="2701290"/>
            <a:ext cx="7616954" cy="202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sz="11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Sequential, limited context, ~1B max params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1220" y="230150"/>
            <a:ext cx="4561315" cy="4683200"/>
          </a:xfrm>
          <a:prstGeom prst="rect">
            <a:avLst/>
          </a:prstGeom>
          <a:ln w="12700">
            <a:miter lim="400000"/>
          </a:ln>
        </p:spPr>
      </p:pic>
      <p:sp>
        <p:nvSpPr>
          <p:cNvPr id="48" name="Text 0"/>
          <p:cNvSpPr txBox="1"/>
          <p:nvPr/>
        </p:nvSpPr>
        <p:spPr>
          <a:xfrm>
            <a:off x="2042023" y="-734199"/>
            <a:ext cx="5059895" cy="803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Encoder-Decoder Architecture</a:t>
            </a:r>
          </a:p>
        </p:txBody>
      </p:sp>
      <p:sp>
        <p:nvSpPr>
          <p:cNvPr id="49" name="Text 1"/>
          <p:cNvSpPr txBox="1"/>
          <p:nvPr/>
        </p:nvSpPr>
        <p:spPr>
          <a:xfrm>
            <a:off x="3010536" y="5677673"/>
            <a:ext cx="3122927" cy="369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500"/>
              </a:lnSpc>
              <a:defRPr sz="1000">
                <a:solidFill>
                  <a:srgbClr val="94A3B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Encoder processes input, decoder generates output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Transformer Encoder Anatomy</a:t>
            </a:r>
          </a:p>
        </p:txBody>
      </p:sp>
      <p:sp>
        <p:nvSpPr>
          <p:cNvPr id="52" name="Text 1"/>
          <p:cNvSpPr txBox="1"/>
          <p:nvPr/>
        </p:nvSpPr>
        <p:spPr>
          <a:xfrm>
            <a:off x="609600" y="1249680"/>
            <a:ext cx="8083296" cy="263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Input → Self-Attention → Feed Forward</a:t>
            </a:r>
          </a:p>
        </p:txBody>
      </p:sp>
      <p:sp>
        <p:nvSpPr>
          <p:cNvPr id="53" name="Text 2"/>
          <p:cNvSpPr txBox="1"/>
          <p:nvPr/>
        </p:nvSpPr>
        <p:spPr>
          <a:xfrm>
            <a:off x="914400" y="1687832"/>
            <a:ext cx="7620000" cy="1192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Multi-head self-attention layer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Residual connections + LayerNorm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Position-wise Feed Forward Network (MLP)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Stack 6-96 layers for depth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Self-Attention Deep Dive</a:t>
            </a:r>
          </a:p>
        </p:txBody>
      </p:sp>
      <p:sp>
        <p:nvSpPr>
          <p:cNvPr id="56" name="Text 1"/>
          <p:cNvSpPr txBox="1"/>
          <p:nvPr/>
        </p:nvSpPr>
        <p:spPr>
          <a:xfrm>
            <a:off x="609600" y="1249681"/>
            <a:ext cx="8083296" cy="263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"Where to Look?" Mechanism</a:t>
            </a:r>
          </a:p>
        </p:txBody>
      </p:sp>
      <p:sp>
        <p:nvSpPr>
          <p:cNvPr id="57" name="Text 2"/>
          <p:cNvSpPr txBox="1"/>
          <p:nvPr/>
        </p:nvSpPr>
        <p:spPr>
          <a:xfrm>
            <a:off x="914400" y="1687832"/>
            <a:ext cx="7620000" cy="888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Query (Q), Key (K), Value (V) matrices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Attention = softmax(QK / √d) × V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Computes relevance weights dynamically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98320" y="315515"/>
            <a:ext cx="5547360" cy="4723926"/>
          </a:xfrm>
          <a:prstGeom prst="rect">
            <a:avLst/>
          </a:prstGeom>
          <a:ln w="12700">
            <a:miter lim="400000"/>
          </a:ln>
        </p:spPr>
      </p:pic>
      <p:sp>
        <p:nvSpPr>
          <p:cNvPr id="60" name="Text 0"/>
          <p:cNvSpPr txBox="1"/>
          <p:nvPr/>
        </p:nvSpPr>
        <p:spPr>
          <a:xfrm>
            <a:off x="1269511" y="-19762"/>
            <a:ext cx="6604978" cy="397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Self-Attention Visualization</a:t>
            </a:r>
          </a:p>
        </p:txBody>
      </p:sp>
      <p:sp>
        <p:nvSpPr>
          <p:cNvPr id="61" name="Text 1"/>
          <p:cNvSpPr txBox="1"/>
          <p:nvPr/>
        </p:nvSpPr>
        <p:spPr>
          <a:xfrm>
            <a:off x="2832925" y="5191840"/>
            <a:ext cx="3478089" cy="3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500"/>
              </a:lnSpc>
              <a:defRPr sz="1000">
                <a:solidFill>
                  <a:srgbClr val="94A3B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Attention weights show which tokens influence each other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Multi-Head Attention</a:t>
            </a:r>
          </a:p>
        </p:txBody>
      </p:sp>
      <p:sp>
        <p:nvSpPr>
          <p:cNvPr id="64" name="Text 1"/>
          <p:cNvSpPr txBox="1"/>
          <p:nvPr/>
        </p:nvSpPr>
        <p:spPr>
          <a:xfrm>
            <a:off x="609600" y="1249681"/>
            <a:ext cx="8083296" cy="263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Parallel Relevance Detection</a:t>
            </a:r>
          </a:p>
        </p:txBody>
      </p:sp>
      <p:sp>
        <p:nvSpPr>
          <p:cNvPr id="65" name="Text 2"/>
          <p:cNvSpPr txBox="1"/>
          <p:nvPr/>
        </p:nvSpPr>
        <p:spPr>
          <a:xfrm>
            <a:off x="914400" y="1687832"/>
            <a:ext cx="7620000" cy="1192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8-128 heads, each learns different patterns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Head 1: Syntax patterns, Head 2: Semantics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Concatenate outputs → Linear projection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Enables diverse pattern recognition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84846" y="372233"/>
            <a:ext cx="2974308" cy="4219783"/>
          </a:xfrm>
          <a:prstGeom prst="rect">
            <a:avLst/>
          </a:prstGeom>
          <a:ln w="12700">
            <a:miter lim="400000"/>
          </a:ln>
        </p:spPr>
      </p:pic>
      <p:sp>
        <p:nvSpPr>
          <p:cNvPr id="68" name="Text 0"/>
          <p:cNvSpPr txBox="1"/>
          <p:nvPr/>
        </p:nvSpPr>
        <p:spPr>
          <a:xfrm>
            <a:off x="2343992" y="-1259384"/>
            <a:ext cx="4456015" cy="803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Multi-Head Attention Block</a:t>
            </a:r>
          </a:p>
        </p:txBody>
      </p:sp>
      <p:sp>
        <p:nvSpPr>
          <p:cNvPr id="69" name="Text 1"/>
          <p:cNvSpPr txBox="1"/>
          <p:nvPr/>
        </p:nvSpPr>
        <p:spPr>
          <a:xfrm>
            <a:off x="3286638" y="6202858"/>
            <a:ext cx="2570722" cy="369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500"/>
              </a:lnSpc>
              <a:defRPr sz="1000">
                <a:solidFill>
                  <a:srgbClr val="94A3B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Multiple attention heads process in parallel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Decoder Differences</a:t>
            </a:r>
          </a:p>
        </p:txBody>
      </p:sp>
      <p:sp>
        <p:nvSpPr>
          <p:cNvPr id="72" name="Text 1"/>
          <p:cNvSpPr txBox="1"/>
          <p:nvPr/>
        </p:nvSpPr>
        <p:spPr>
          <a:xfrm>
            <a:off x="609600" y="1249681"/>
            <a:ext cx="8083296" cy="263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Masked Self-Attention + Cross-Attention</a:t>
            </a:r>
          </a:p>
        </p:txBody>
      </p:sp>
      <p:sp>
        <p:nvSpPr>
          <p:cNvPr id="73" name="Text 2"/>
          <p:cNvSpPr txBox="1"/>
          <p:nvPr/>
        </p:nvSpPr>
        <p:spPr>
          <a:xfrm>
            <a:off x="914400" y="1687832"/>
            <a:ext cx="7620000" cy="1192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Prevents future peeking (autoregressive)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Cross-attention to encoder outputs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Generates one token at a time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GPT series uses decoder-only architecture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 txBox="1"/>
          <p:nvPr/>
        </p:nvSpPr>
        <p:spPr>
          <a:xfrm>
            <a:off x="2501106" y="1388747"/>
            <a:ext cx="4141787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Scale = Capability</a:t>
            </a:r>
          </a:p>
        </p:txBody>
      </p:sp>
      <p:sp>
        <p:nvSpPr>
          <p:cNvPr id="76" name="Text 1"/>
          <p:cNvSpPr txBox="1"/>
          <p:nvPr/>
        </p:nvSpPr>
        <p:spPr>
          <a:xfrm>
            <a:off x="3041424" y="2105024"/>
            <a:ext cx="3061152" cy="250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100"/>
              </a:lnSpc>
              <a:defRPr b="1" sz="14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GPT-1:</a:t>
            </a:r>
            <a:r>
              <a:rPr b="0">
                <a:solidFill>
                  <a:srgbClr val="CBD5E1"/>
                </a:solidFill>
              </a:rPr>
              <a:t> 117M params (2018)</a:t>
            </a:r>
          </a:p>
        </p:txBody>
      </p:sp>
      <p:sp>
        <p:nvSpPr>
          <p:cNvPr id="77" name="Text 2"/>
          <p:cNvSpPr txBox="1"/>
          <p:nvPr/>
        </p:nvSpPr>
        <p:spPr>
          <a:xfrm>
            <a:off x="3076312" y="2531747"/>
            <a:ext cx="2991376" cy="250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100"/>
              </a:lnSpc>
              <a:defRPr b="1" sz="14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GPT-3:</a:t>
            </a:r>
            <a:r>
              <a:rPr b="0">
                <a:solidFill>
                  <a:srgbClr val="CBD5E1"/>
                </a:solidFill>
              </a:rPr>
              <a:t> 175B params (2020)</a:t>
            </a:r>
          </a:p>
        </p:txBody>
      </p:sp>
      <p:sp>
        <p:nvSpPr>
          <p:cNvPr id="78" name="Text 3"/>
          <p:cNvSpPr txBox="1"/>
          <p:nvPr/>
        </p:nvSpPr>
        <p:spPr>
          <a:xfrm>
            <a:off x="3164843" y="2958465"/>
            <a:ext cx="2991375" cy="250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100"/>
              </a:lnSpc>
              <a:defRPr b="1" sz="14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GPT-4o:</a:t>
            </a:r>
            <a:r>
              <a:rPr b="0">
                <a:solidFill>
                  <a:srgbClr val="CBD5E1"/>
                </a:solidFill>
              </a:rPr>
              <a:t> ~1.8T params (2025)</a:t>
            </a:r>
          </a:p>
        </p:txBody>
      </p:sp>
      <p:sp>
        <p:nvSpPr>
          <p:cNvPr id="79" name="Text 4"/>
          <p:cNvSpPr txBox="1"/>
          <p:nvPr/>
        </p:nvSpPr>
        <p:spPr>
          <a:xfrm>
            <a:off x="3206674" y="3537584"/>
            <a:ext cx="2730652" cy="202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700"/>
              </a:lnSpc>
              <a:defRPr sz="1100">
                <a:solidFill>
                  <a:srgbClr val="94A3B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7 years = 15,000x parameter growth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How LLMs Learn</a:t>
            </a:r>
          </a:p>
        </p:txBody>
      </p:sp>
      <p:sp>
        <p:nvSpPr>
          <p:cNvPr id="82" name="Text 1"/>
          <p:cNvSpPr txBox="1"/>
          <p:nvPr/>
        </p:nvSpPr>
        <p:spPr>
          <a:xfrm>
            <a:off x="609600" y="1249681"/>
            <a:ext cx="8083296" cy="263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Pattern Recognition at Scale</a:t>
            </a:r>
          </a:p>
        </p:txBody>
      </p:sp>
      <p:sp>
        <p:nvSpPr>
          <p:cNvPr id="83" name="Text 2"/>
          <p:cNvSpPr txBox="1"/>
          <p:nvPr/>
        </p:nvSpPr>
        <p:spPr>
          <a:xfrm>
            <a:off x="914400" y="1687832"/>
            <a:ext cx="7620000" cy="1192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Next-token prediction on internet data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Learns grammar, facts, reasoning via statistics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No explicit programming—emergent abilities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Trained on trillions of tokens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Training Paradigms</a:t>
            </a:r>
          </a:p>
        </p:txBody>
      </p:sp>
      <p:sp>
        <p:nvSpPr>
          <p:cNvPr id="86" name="Text 1"/>
          <p:cNvSpPr txBox="1"/>
          <p:nvPr/>
        </p:nvSpPr>
        <p:spPr>
          <a:xfrm>
            <a:off x="609600" y="1249681"/>
            <a:ext cx="8083296" cy="263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Pretraining → Fine-tuning → RLHF</a:t>
            </a:r>
          </a:p>
        </p:txBody>
      </p:sp>
      <p:sp>
        <p:nvSpPr>
          <p:cNvPr id="87" name="Text 2"/>
          <p:cNvSpPr txBox="1"/>
          <p:nvPr/>
        </p:nvSpPr>
        <p:spPr>
          <a:xfrm>
            <a:off x="914400" y="1687832"/>
            <a:ext cx="7620000" cy="888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Pretrain:</a:t>
            </a:r>
            <a:r>
              <a:rPr b="0">
                <a:solidFill>
                  <a:srgbClr val="CBD5E1"/>
                </a:solidFill>
              </a:rPr>
              <a:t> Massive unsupervised corpus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Supervised Fine-tune:</a:t>
            </a:r>
            <a:r>
              <a:rPr b="0">
                <a:solidFill>
                  <a:srgbClr val="CBD5E1"/>
                </a:solidFill>
              </a:rPr>
              <a:t> Q&amp;A pairs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3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RLHF:</a:t>
            </a:r>
            <a:r>
              <a:rPr b="0">
                <a:solidFill>
                  <a:srgbClr val="CBD5E1"/>
                </a:solidFill>
              </a:rPr>
              <a:t> Human preference alignment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98320" y="299562"/>
            <a:ext cx="5547360" cy="4755893"/>
          </a:xfrm>
          <a:prstGeom prst="rect">
            <a:avLst/>
          </a:prstGeom>
          <a:ln w="12700">
            <a:miter lim="400000"/>
          </a:ln>
        </p:spPr>
      </p:pic>
      <p:sp>
        <p:nvSpPr>
          <p:cNvPr id="90" name="Text 0"/>
          <p:cNvSpPr txBox="1"/>
          <p:nvPr/>
        </p:nvSpPr>
        <p:spPr>
          <a:xfrm>
            <a:off x="2145268" y="370681"/>
            <a:ext cx="4853464" cy="397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LLM Training Pipeline</a:t>
            </a:r>
          </a:p>
        </p:txBody>
      </p:sp>
      <p:sp>
        <p:nvSpPr>
          <p:cNvPr id="91" name="Text 1"/>
          <p:cNvSpPr txBox="1"/>
          <p:nvPr/>
        </p:nvSpPr>
        <p:spPr>
          <a:xfrm>
            <a:off x="3139327" y="5207858"/>
            <a:ext cx="2865345" cy="3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500"/>
              </a:lnSpc>
              <a:defRPr sz="1000">
                <a:solidFill>
                  <a:srgbClr val="94A3B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Pre-training → Post-training paradigm evolution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0"/>
          <p:cNvSpPr/>
          <p:nvPr/>
        </p:nvSpPr>
        <p:spPr>
          <a:xfrm>
            <a:off x="609600" y="1249681"/>
            <a:ext cx="7924800" cy="891540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94" name="Text 1"/>
          <p:cNvSpPr/>
          <p:nvPr/>
        </p:nvSpPr>
        <p:spPr>
          <a:xfrm>
            <a:off x="609600" y="2141217"/>
            <a:ext cx="7924800" cy="891540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95" name="Text 2"/>
          <p:cNvSpPr/>
          <p:nvPr/>
        </p:nvSpPr>
        <p:spPr>
          <a:xfrm>
            <a:off x="609600" y="3032763"/>
            <a:ext cx="7924800" cy="891540"/>
          </a:xfrm>
          <a:prstGeom prst="rect">
            <a:avLst/>
          </a:prstGeom>
          <a:solidFill>
            <a:srgbClr val="1E293B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96" name="Text 3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Fine-tuning Methods</a:t>
            </a:r>
          </a:p>
        </p:txBody>
      </p:sp>
      <p:sp>
        <p:nvSpPr>
          <p:cNvPr id="97" name="Text 4"/>
          <p:cNvSpPr txBox="1"/>
          <p:nvPr/>
        </p:nvSpPr>
        <p:spPr>
          <a:xfrm>
            <a:off x="838199" y="1478281"/>
            <a:ext cx="7616954" cy="222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Full Fine-tune</a:t>
            </a:r>
          </a:p>
        </p:txBody>
      </p:sp>
      <p:sp>
        <p:nvSpPr>
          <p:cNvPr id="98" name="Text 5"/>
          <p:cNvSpPr txBox="1"/>
          <p:nvPr/>
        </p:nvSpPr>
        <p:spPr>
          <a:xfrm>
            <a:off x="838199" y="1706882"/>
            <a:ext cx="7616954" cy="189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sz="10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100% params, $$$, new domains</a:t>
            </a:r>
          </a:p>
        </p:txBody>
      </p:sp>
      <p:sp>
        <p:nvSpPr>
          <p:cNvPr id="99" name="Text 6"/>
          <p:cNvSpPr txBox="1"/>
          <p:nvPr/>
        </p:nvSpPr>
        <p:spPr>
          <a:xfrm>
            <a:off x="838199" y="2369817"/>
            <a:ext cx="7616954" cy="222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LoRA</a:t>
            </a:r>
          </a:p>
        </p:txBody>
      </p:sp>
      <p:sp>
        <p:nvSpPr>
          <p:cNvPr id="100" name="Text 7"/>
          <p:cNvSpPr txBox="1"/>
          <p:nvPr/>
        </p:nvSpPr>
        <p:spPr>
          <a:xfrm>
            <a:off x="838199" y="2598417"/>
            <a:ext cx="7616954" cy="189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sz="10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0.1% params, $, custom tasks</a:t>
            </a:r>
          </a:p>
        </p:txBody>
      </p:sp>
      <p:sp>
        <p:nvSpPr>
          <p:cNvPr id="101" name="Text 8"/>
          <p:cNvSpPr txBox="1"/>
          <p:nvPr/>
        </p:nvSpPr>
        <p:spPr>
          <a:xfrm>
            <a:off x="838199" y="3261364"/>
            <a:ext cx="7616954" cy="222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Prompt Tuning</a:t>
            </a:r>
          </a:p>
        </p:txBody>
      </p:sp>
      <p:sp>
        <p:nvSpPr>
          <p:cNvPr id="102" name="Text 9"/>
          <p:cNvSpPr txBox="1"/>
          <p:nvPr/>
        </p:nvSpPr>
        <p:spPr>
          <a:xfrm>
            <a:off x="838199" y="3489964"/>
            <a:ext cx="7616954" cy="189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defRPr sz="10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0.01% params, ¢, quick adapt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Instruction Tuning</a:t>
            </a:r>
          </a:p>
        </p:txBody>
      </p:sp>
      <p:sp>
        <p:nvSpPr>
          <p:cNvPr id="105" name="Text 1"/>
          <p:cNvSpPr txBox="1"/>
          <p:nvPr/>
        </p:nvSpPr>
        <p:spPr>
          <a:xfrm>
            <a:off x="609600" y="1249681"/>
            <a:ext cx="8083296" cy="263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From Completion → Conversation</a:t>
            </a:r>
          </a:p>
        </p:txBody>
      </p:sp>
      <p:sp>
        <p:nvSpPr>
          <p:cNvPr id="106" name="Text 2"/>
          <p:cNvSpPr txBox="1"/>
          <p:nvPr/>
        </p:nvSpPr>
        <p:spPr>
          <a:xfrm>
            <a:off x="914400" y="1687832"/>
            <a:ext cx="7620000" cy="1192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InstructGPT breakthrough (2022)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System prompts + structured outputs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Enables agentic workflows (tools, memory)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GPT-4o, Claude 3.5 are instruction-tuned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0"/>
          <p:cNvSpPr txBox="1"/>
          <p:nvPr/>
        </p:nvSpPr>
        <p:spPr>
          <a:xfrm>
            <a:off x="1580310" y="1388743"/>
            <a:ext cx="5983380" cy="397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Context Window Evolution</a:t>
            </a:r>
          </a:p>
        </p:txBody>
      </p:sp>
      <p:sp>
        <p:nvSpPr>
          <p:cNvPr id="109" name="Text 1"/>
          <p:cNvSpPr txBox="1"/>
          <p:nvPr/>
        </p:nvSpPr>
        <p:spPr>
          <a:xfrm>
            <a:off x="2776691" y="2105024"/>
            <a:ext cx="3590618" cy="250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100"/>
              </a:lnSpc>
              <a:defRPr b="1" sz="14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GPT-3:</a:t>
            </a:r>
            <a:r>
              <a:rPr b="0">
                <a:solidFill>
                  <a:srgbClr val="CBD5E1"/>
                </a:solidFill>
              </a:rPr>
              <a:t> 4K tokens (~3K words)</a:t>
            </a:r>
          </a:p>
        </p:txBody>
      </p:sp>
      <p:sp>
        <p:nvSpPr>
          <p:cNvPr id="110" name="Text 2"/>
          <p:cNvSpPr txBox="1"/>
          <p:nvPr/>
        </p:nvSpPr>
        <p:spPr>
          <a:xfrm>
            <a:off x="3442778" y="2531742"/>
            <a:ext cx="2258444" cy="250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100"/>
              </a:lnSpc>
              <a:defRPr b="1" sz="14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GPT-4o:</a:t>
            </a:r>
            <a:r>
              <a:rPr b="0">
                <a:solidFill>
                  <a:srgbClr val="CBD5E1"/>
                </a:solidFill>
              </a:rPr>
              <a:t> 128K tokens</a:t>
            </a:r>
          </a:p>
        </p:txBody>
      </p:sp>
      <p:sp>
        <p:nvSpPr>
          <p:cNvPr id="111" name="Text 3"/>
          <p:cNvSpPr txBox="1"/>
          <p:nvPr/>
        </p:nvSpPr>
        <p:spPr>
          <a:xfrm>
            <a:off x="3027299" y="2958470"/>
            <a:ext cx="3089403" cy="250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100"/>
              </a:lnSpc>
              <a:defRPr b="1" sz="14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Gemini 2.0:</a:t>
            </a:r>
            <a:r>
              <a:rPr b="0">
                <a:solidFill>
                  <a:srgbClr val="CBD5E1"/>
                </a:solidFill>
              </a:rPr>
              <a:t> 2M+ tokens (2026)</a:t>
            </a:r>
          </a:p>
        </p:txBody>
      </p:sp>
      <p:sp>
        <p:nvSpPr>
          <p:cNvPr id="112" name="Text 4"/>
          <p:cNvSpPr txBox="1"/>
          <p:nvPr/>
        </p:nvSpPr>
        <p:spPr>
          <a:xfrm>
            <a:off x="3568583" y="3537589"/>
            <a:ext cx="2006834" cy="202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700"/>
              </a:lnSpc>
              <a:defRPr sz="1100">
                <a:solidFill>
                  <a:srgbClr val="94A3B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From 2K to 2M in 5 years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96439" y="1196522"/>
            <a:ext cx="5151122" cy="2961858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Text 0"/>
          <p:cNvSpPr txBox="1"/>
          <p:nvPr/>
        </p:nvSpPr>
        <p:spPr>
          <a:xfrm>
            <a:off x="1529464" y="632640"/>
            <a:ext cx="6085072" cy="397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Context Window Visualization</a:t>
            </a:r>
          </a:p>
        </p:txBody>
      </p:sp>
      <p:sp>
        <p:nvSpPr>
          <p:cNvPr id="116" name="Text 1"/>
          <p:cNvSpPr txBox="1"/>
          <p:nvPr/>
        </p:nvSpPr>
        <p:spPr>
          <a:xfrm>
            <a:off x="3124086" y="4310779"/>
            <a:ext cx="2895767" cy="369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500"/>
              </a:lnSpc>
              <a:defRPr sz="1000">
                <a:solidFill>
                  <a:srgbClr val="94A3B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Sliding window of tokens the model can process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Why Models Hallucinate</a:t>
            </a:r>
          </a:p>
        </p:txBody>
      </p:sp>
      <p:sp>
        <p:nvSpPr>
          <p:cNvPr id="119" name="Text 1"/>
          <p:cNvSpPr txBox="1"/>
          <p:nvPr/>
        </p:nvSpPr>
        <p:spPr>
          <a:xfrm>
            <a:off x="609600" y="1249681"/>
            <a:ext cx="8083296" cy="263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Top Causes</a:t>
            </a:r>
          </a:p>
        </p:txBody>
      </p:sp>
      <p:sp>
        <p:nvSpPr>
          <p:cNvPr id="120" name="Text 2"/>
          <p:cNvSpPr txBox="1"/>
          <p:nvPr/>
        </p:nvSpPr>
        <p:spPr>
          <a:xfrm>
            <a:off x="914400" y="1687832"/>
            <a:ext cx="7620000" cy="1192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Training data gaps (rare facts missing)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Context overflow (forgot early information)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Overgeneralization (plausible fiction)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No true reasoning (pattern matching only)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Hallucination Mitigation</a:t>
            </a:r>
          </a:p>
        </p:txBody>
      </p:sp>
      <p:sp>
        <p:nvSpPr>
          <p:cNvPr id="123" name="Text 1"/>
          <p:cNvSpPr txBox="1"/>
          <p:nvPr/>
        </p:nvSpPr>
        <p:spPr>
          <a:xfrm>
            <a:off x="609600" y="1249681"/>
            <a:ext cx="8083296" cy="263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Developer Strategies</a:t>
            </a:r>
          </a:p>
        </p:txBody>
      </p:sp>
      <p:sp>
        <p:nvSpPr>
          <p:cNvPr id="124" name="Text 2"/>
          <p:cNvSpPr txBox="1"/>
          <p:nvPr/>
        </p:nvSpPr>
        <p:spPr>
          <a:xfrm>
            <a:off x="914400" y="1687832"/>
            <a:ext cx="7620000" cy="1192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RAG (Retrieval Augmented Generation)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Guardrails + fact-checking layers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Chain-of-Verification prompting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Smaller domain-specific models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Why Transformers Won</a:t>
            </a:r>
          </a:p>
        </p:txBody>
      </p:sp>
      <p:sp>
        <p:nvSpPr>
          <p:cNvPr id="127" name="Text 1"/>
          <p:cNvSpPr txBox="1"/>
          <p:nvPr/>
        </p:nvSpPr>
        <p:spPr>
          <a:xfrm>
            <a:off x="609600" y="1249681"/>
            <a:ext cx="8083296" cy="263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vs Legacy Seq2Seq</a:t>
            </a:r>
          </a:p>
        </p:txBody>
      </p:sp>
      <p:sp>
        <p:nvSpPr>
          <p:cNvPr id="128" name="Text 2"/>
          <p:cNvSpPr txBox="1"/>
          <p:nvPr/>
        </p:nvSpPr>
        <p:spPr>
          <a:xfrm>
            <a:off x="914400" y="1687832"/>
            <a:ext cx="7620000" cy="1192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Massive parallelization (GPU-friendly)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True long-range dependencies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Transfer learning supremacy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Multimodal extension (ViT, CLIP, Flamingo)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Developer Takeaways</a:t>
            </a:r>
          </a:p>
        </p:txBody>
      </p:sp>
      <p:sp>
        <p:nvSpPr>
          <p:cNvPr id="131" name="Text 1"/>
          <p:cNvSpPr txBox="1"/>
          <p:nvPr/>
        </p:nvSpPr>
        <p:spPr>
          <a:xfrm>
            <a:off x="609600" y="1249681"/>
            <a:ext cx="8083296" cy="263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Practical LLM Insights</a:t>
            </a:r>
          </a:p>
        </p:txBody>
      </p:sp>
      <p:sp>
        <p:nvSpPr>
          <p:cNvPr id="132" name="Text 2"/>
          <p:cNvSpPr txBox="1"/>
          <p:nvPr/>
        </p:nvSpPr>
        <p:spPr>
          <a:xfrm>
            <a:off x="914400" y="1687832"/>
            <a:ext cx="7620000" cy="1192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Prompts &gt; Fine-tuning (80% gains faster)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Context window = your working memory budget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Hallucinations inevitable—design defensively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Agentic = Tools + Memory + Planning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0"/>
          <p:cNvSpPr txBox="1"/>
          <p:nvPr/>
        </p:nvSpPr>
        <p:spPr>
          <a:xfrm>
            <a:off x="609600" y="609599"/>
            <a:ext cx="8083296" cy="397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Hands-On Next</a:t>
            </a:r>
          </a:p>
        </p:txBody>
      </p:sp>
      <p:sp>
        <p:nvSpPr>
          <p:cNvPr id="135" name="Text 1"/>
          <p:cNvSpPr txBox="1"/>
          <p:nvPr/>
        </p:nvSpPr>
        <p:spPr>
          <a:xfrm>
            <a:off x="609600" y="1249681"/>
            <a:ext cx="8083296" cy="263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5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Live API Exploration (15 min)</a:t>
            </a:r>
          </a:p>
        </p:txBody>
      </p:sp>
      <p:sp>
        <p:nvSpPr>
          <p:cNvPr id="136" name="Text 2"/>
          <p:cNvSpPr txBox="1"/>
          <p:nvPr/>
        </p:nvSpPr>
        <p:spPr>
          <a:xfrm>
            <a:off x="914400" y="1687832"/>
            <a:ext cx="7620000" cy="8881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OpenAI Playground (text/vision)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Hugging Face Hub (open models)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pPr>
            <a:r>
              <a:t>Compare GPT-4o vs Llama 3.2</a:t>
            </a:r>
          </a:p>
        </p:txBody>
      </p:sp>
      <p:sp>
        <p:nvSpPr>
          <p:cNvPr id="137" name="Text 3"/>
          <p:cNvSpPr txBox="1"/>
          <p:nvPr/>
        </p:nvSpPr>
        <p:spPr>
          <a:xfrm>
            <a:off x="609600" y="3070863"/>
            <a:ext cx="8083296" cy="23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b="1"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Questions? Let's explore together.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 0"/>
          <p:cNvSpPr txBox="1"/>
          <p:nvPr/>
        </p:nvSpPr>
        <p:spPr>
          <a:xfrm>
            <a:off x="3259618" y="978539"/>
            <a:ext cx="2624765" cy="803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b="1" sz="2700">
                <a:solidFill>
                  <a:srgbClr val="38BDF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Key References</a:t>
            </a:r>
          </a:p>
        </p:txBody>
      </p:sp>
      <p:sp>
        <p:nvSpPr>
          <p:cNvPr id="140" name="Text 1"/>
          <p:cNvSpPr txBox="1"/>
          <p:nvPr/>
        </p:nvSpPr>
        <p:spPr>
          <a:xfrm>
            <a:off x="2611731" y="2063120"/>
            <a:ext cx="3920538" cy="23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000"/>
              </a:lnSpc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"Attention is All You Need" (Vaswani 2017)</a:t>
            </a:r>
          </a:p>
        </p:txBody>
      </p:sp>
      <p:sp>
        <p:nvSpPr>
          <p:cNvPr id="141" name="Text 2"/>
          <p:cNvSpPr txBox="1"/>
          <p:nvPr/>
        </p:nvSpPr>
        <p:spPr>
          <a:xfrm>
            <a:off x="2718976" y="2472695"/>
            <a:ext cx="3706048" cy="23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000"/>
              </a:lnSpc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GPT Series Technical Reports (OpenAI)</a:t>
            </a:r>
          </a:p>
        </p:txBody>
      </p:sp>
      <p:sp>
        <p:nvSpPr>
          <p:cNvPr id="142" name="Text 3"/>
          <p:cNvSpPr txBox="1"/>
          <p:nvPr/>
        </p:nvSpPr>
        <p:spPr>
          <a:xfrm>
            <a:off x="2888565" y="2882270"/>
            <a:ext cx="3366870" cy="23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000"/>
              </a:lnSpc>
              <a:defRPr sz="1300">
                <a:solidFill>
                  <a:srgbClr val="CBD5E1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Lilian Weng: Transformer Blog Series</a:t>
            </a:r>
          </a:p>
        </p:txBody>
      </p:sp>
      <p:sp>
        <p:nvSpPr>
          <p:cNvPr id="143" name="Text 4"/>
          <p:cNvSpPr txBox="1"/>
          <p:nvPr/>
        </p:nvSpPr>
        <p:spPr>
          <a:xfrm>
            <a:off x="3056545" y="3596645"/>
            <a:ext cx="3030910" cy="179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500"/>
              </a:lnSpc>
              <a:defRPr sz="1000">
                <a:solidFill>
                  <a:srgbClr val="94A3B8"/>
                </a:solidFill>
                <a:latin typeface="Segoe UI"/>
                <a:ea typeface="Segoe UI"/>
                <a:cs typeface="Segoe UI"/>
                <a:sym typeface="Segoe UI"/>
              </a:defRPr>
            </a:lvl1pPr>
          </a:lstStyle>
          <a:p>
            <a:pPr/>
            <a:r>
              <a:t>Course repo: notebooks + playground links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